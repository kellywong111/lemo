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502920"/>
          </a:xfrm>
          <a:prstGeom prst="rect">
            <a:avLst/>
          </a:prstGeom>
          <a:noFill/>
        </p:spPr>
        <p:txBody>
          <a:bodyPr wrap="none">
            <a:spAutoFit/>
          </a:bodyPr>
          <a:lstStyle/>
          <a:p>
            <a:pPr>
              <a:defRPr sz="2600" b="1">
                <a:solidFill>
                  <a:srgbClr val="1F252D"/>
                </a:solidFill>
              </a:defRPr>
            </a:pPr>
            <a:r>
              <a:t>MoDA improves prediction, but planning bottleneck moves</a:t>
            </a:r>
          </a:p>
        </p:txBody>
      </p:sp>
      <p:sp>
        <p:nvSpPr>
          <p:cNvPr id="3" name="TextBox 2"/>
          <p:cNvSpPr txBox="1"/>
          <p:nvPr/>
        </p:nvSpPr>
        <p:spPr>
          <a:xfrm>
            <a:off x="530352" y="868680"/>
            <a:ext cx="10972800" cy="320040"/>
          </a:xfrm>
          <a:prstGeom prst="rect">
            <a:avLst/>
          </a:prstGeom>
          <a:noFill/>
        </p:spPr>
        <p:txBody>
          <a:bodyPr wrap="none">
            <a:spAutoFit/>
          </a:bodyPr>
          <a:lstStyle/>
          <a:p>
            <a:pPr>
              <a:defRPr sz="1200">
                <a:solidFill>
                  <a:srgbClr val="5C6773"/>
                </a:solidFill>
              </a:defRPr>
            </a:pPr>
            <a:r>
              <a:t>Current diagnostic summary for LeWM + encoder-side MoDA on PushT</a:t>
            </a:r>
          </a:p>
        </p:txBody>
      </p:sp>
      <p:sp>
        <p:nvSpPr>
          <p:cNvPr id="4" name="Rounded Rectangle 3"/>
          <p:cNvSpPr/>
          <p:nvPr/>
        </p:nvSpPr>
        <p:spPr>
          <a:xfrm>
            <a:off x="685800" y="1417320"/>
            <a:ext cx="5303520" cy="3383280"/>
          </a:xfrm>
          <a:prstGeom prst="roundRect">
            <a:avLst/>
          </a:prstGeom>
          <a:solidFill>
            <a:srgbClr val="FFFFFF"/>
          </a:solidFill>
          <a:ln>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lIns="164592" rIns="137160" tIns="109728"/>
          <a:lstStyle/>
          <a:p>
            <a:pPr algn="ctr">
              <a:defRPr sz="1500" b="1">
                <a:solidFill>
                  <a:srgbClr val="2463EB"/>
                </a:solidFill>
              </a:defRPr>
            </a:pPr>
            <a:r>
              <a:t>Main message</a:t>
            </a:r>
          </a:p>
          <a:p>
            <a:pPr>
              <a:defRPr sz="1200">
                <a:solidFill>
                  <a:srgbClr val="1F252D"/>
                </a:solidFill>
              </a:defRPr>
            </a:pPr>
            <a:r>
              <a:t>MoDA/gate improves visual / prediction-friendly representation.</a:t>
            </a:r>
          </a:p>
          <a:p>
            <a:pPr>
              <a:defRPr sz="1200">
                <a:solidFill>
                  <a:srgbClr val="1F252D"/>
                </a:solidFill>
              </a:defRPr>
            </a:pPr>
            <a:r>
              <a:t>Better prediction does not automatically produce better CEM planning.</a:t>
            </a:r>
          </a:p>
          <a:p>
            <a:pPr>
              <a:defRPr sz="1200">
                <a:solidFill>
                  <a:srgbClr val="1F252D"/>
                </a:solidFill>
              </a:defRPr>
            </a:pPr>
            <a:r>
              <a:t>Failures split into candidate generation failures and cost/ranking mismatch.</a:t>
            </a:r>
          </a:p>
          <a:p>
            <a:pPr>
              <a:defRPr sz="1200">
                <a:solidFill>
                  <a:srgbClr val="1F252D"/>
                </a:solidFill>
              </a:defRPr>
            </a:pPr>
            <a:r>
              <a:t>Simple fixes tested so far do not solve the core issue.</a:t>
            </a:r>
          </a:p>
        </p:txBody>
      </p:sp>
      <p:sp>
        <p:nvSpPr>
          <p:cNvPr id="5" name="Rounded Rectangle 4"/>
          <p:cNvSpPr/>
          <p:nvPr/>
        </p:nvSpPr>
        <p:spPr>
          <a:xfrm>
            <a:off x="6217920" y="1417320"/>
            <a:ext cx="5303520" cy="3383280"/>
          </a:xfrm>
          <a:prstGeom prst="roundRect">
            <a:avLst/>
          </a:prstGeom>
          <a:solidFill>
            <a:srgbClr val="FFFFFF"/>
          </a:solidFill>
          <a:ln>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lIns="164592" rIns="137160" tIns="109728"/>
          <a:lstStyle/>
          <a:p>
            <a:pPr algn="ctr">
              <a:defRPr sz="1500" b="1">
                <a:solidFill>
                  <a:srgbClr val="EA580C"/>
                </a:solidFill>
              </a:defRPr>
            </a:pPr>
            <a:r>
              <a:t>Most important evidence</a:t>
            </a:r>
          </a:p>
          <a:p>
            <a:pPr>
              <a:defRPr sz="1200">
                <a:solidFill>
                  <a:srgbClr val="1F252D"/>
                </a:solidFill>
              </a:defRPr>
            </a:pPr>
            <a:r>
              <a:t>Top-k oracle shows only part of failure is rerankable.</a:t>
            </a:r>
          </a:p>
          <a:p>
            <a:pPr>
              <a:defRPr sz="1200">
                <a:solidFill>
                  <a:srgbClr val="1F252D"/>
                </a:solidFill>
              </a:defRPr>
            </a:pPr>
            <a:r>
              <a:t>Failed cases have much lower candidate trajectory spread.</a:t>
            </a:r>
          </a:p>
          <a:p>
            <a:pPr>
              <a:defRPr sz="1200">
                <a:solidFill>
                  <a:srgbClr val="1F252D"/>
                </a:solidFill>
              </a:defRPr>
            </a:pPr>
            <a:r>
              <a:t>Longer horizon collapses performance: h10/b5 = 10%.</a:t>
            </a:r>
          </a:p>
          <a:p>
            <a:pPr>
              <a:defRPr sz="1200">
                <a:solidFill>
                  <a:srgbClr val="1F252D"/>
                </a:solidFill>
              </a:defRPr>
            </a:pPr>
            <a:r>
              <a:t>restart3 and consistency rerank give little or negative gain.</a:t>
            </a:r>
          </a:p>
        </p:txBody>
      </p:sp>
      <p:sp>
        <p:nvSpPr>
          <p:cNvPr id="6" name="TextBox 5"/>
          <p:cNvSpPr txBox="1"/>
          <p:nvPr/>
        </p:nvSpPr>
        <p:spPr>
          <a:xfrm>
            <a:off x="640080" y="5989320"/>
            <a:ext cx="10972800" cy="320040"/>
          </a:xfrm>
          <a:prstGeom prst="rect">
            <a:avLst/>
          </a:prstGeom>
          <a:noFill/>
        </p:spPr>
        <p:txBody>
          <a:bodyPr wrap="none">
            <a:spAutoFit/>
          </a:bodyPr>
          <a:lstStyle/>
          <a:p>
            <a:pPr>
              <a:defRPr sz="1300" b="1">
                <a:solidFill>
                  <a:srgbClr val="EA580C"/>
                </a:solidFill>
              </a:defRPr>
            </a:pPr>
            <a:r>
              <a:t>Thesis: focus on sampling- and rollout-calibrated planning, not another local subspace/spread loss.</a:t>
            </a:r>
          </a:p>
        </p:txBody>
      </p:sp>
      <p:sp>
        <p:nvSpPr>
          <p:cNvPr id="7" name="TextBox 6"/>
          <p:cNvSpPr txBox="1"/>
          <p:nvPr/>
        </p:nvSpPr>
        <p:spPr>
          <a:xfrm>
            <a:off x="502920" y="6446520"/>
            <a:ext cx="11155680" cy="228600"/>
          </a:xfrm>
          <a:prstGeom prst="rect">
            <a:avLst/>
          </a:prstGeom>
          <a:noFill/>
        </p:spPr>
        <p:txBody>
          <a:bodyPr wrap="none">
            <a:spAutoFit/>
          </a:bodyPr>
          <a:lstStyle/>
          <a:p>
            <a:pPr>
              <a:defRPr sz="900">
                <a:solidFill>
                  <a:srgbClr val="5C6773"/>
                </a:solidFill>
              </a:defRPr>
            </a:pPr>
            <a:r>
              <a:t>MoDA / LeWM planning diagnostics | 2026-05-08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502920"/>
          </a:xfrm>
          <a:prstGeom prst="rect">
            <a:avLst/>
          </a:prstGeom>
          <a:noFill/>
        </p:spPr>
        <p:txBody>
          <a:bodyPr wrap="none">
            <a:spAutoFit/>
          </a:bodyPr>
          <a:lstStyle/>
          <a:p>
            <a:pPr>
              <a:defRPr sz="2600" b="1">
                <a:solidFill>
                  <a:srgbClr val="1F252D"/>
                </a:solidFill>
              </a:defRPr>
            </a:pPr>
            <a:r>
              <a:t>Question we tried to answer</a:t>
            </a:r>
          </a:p>
        </p:txBody>
      </p:sp>
      <p:sp>
        <p:nvSpPr>
          <p:cNvPr id="3" name="TextBox 2"/>
          <p:cNvSpPr txBox="1"/>
          <p:nvPr/>
        </p:nvSpPr>
        <p:spPr>
          <a:xfrm>
            <a:off x="530352" y="868680"/>
            <a:ext cx="10972800" cy="320040"/>
          </a:xfrm>
          <a:prstGeom prst="rect">
            <a:avLst/>
          </a:prstGeom>
          <a:noFill/>
        </p:spPr>
        <p:txBody>
          <a:bodyPr wrap="none">
            <a:spAutoFit/>
          </a:bodyPr>
          <a:lstStyle/>
          <a:p>
            <a:pPr>
              <a:defRPr sz="1200">
                <a:solidFill>
                  <a:srgbClr val="5C6773"/>
                </a:solidFill>
              </a:defRPr>
            </a:pPr>
            <a:r>
              <a:t>Where does planning fail after MoDA/gate07?</a:t>
            </a:r>
          </a:p>
        </p:txBody>
      </p:sp>
      <p:sp>
        <p:nvSpPr>
          <p:cNvPr id="4" name="Rounded Rectangle 3"/>
          <p:cNvSpPr/>
          <p:nvPr/>
        </p:nvSpPr>
        <p:spPr>
          <a:xfrm>
            <a:off x="640080" y="1234440"/>
            <a:ext cx="3474720" cy="4480560"/>
          </a:xfrm>
          <a:prstGeom prst="roundRect">
            <a:avLst/>
          </a:prstGeom>
          <a:solidFill>
            <a:srgbClr val="FFFFFF"/>
          </a:solidFill>
          <a:ln>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lIns="164592" rIns="137160" tIns="109728"/>
          <a:lstStyle/>
          <a:p>
            <a:pPr algn="ctr">
              <a:defRPr sz="1500" b="1">
                <a:solidFill>
                  <a:srgbClr val="2463EB"/>
                </a:solidFill>
              </a:defRPr>
            </a:pPr>
            <a:r>
              <a:t>Hypothesis A</a:t>
            </a:r>
          </a:p>
          <a:p>
            <a:pPr>
              <a:defRPr sz="1200">
                <a:solidFill>
                  <a:srgbClr val="1F252D"/>
                </a:solidFill>
              </a:defRPr>
            </a:pPr>
            <a:r>
              <a:t>Representation issue</a:t>
            </a:r>
          </a:p>
          <a:p>
            <a:pPr>
              <a:defRPr sz="1200">
                <a:solidFill>
                  <a:srgbClr val="1F252D"/>
                </a:solidFill>
              </a:defRPr>
            </a:pPr>
            <a:r>
              <a:t>MoDA compresses action-sensitive latent dimensions.</a:t>
            </a:r>
          </a:p>
          <a:p>
            <a:pPr>
              <a:defRPr sz="1200">
                <a:solidFill>
                  <a:srgbClr val="1F252D"/>
                </a:solidFill>
              </a:defRPr>
            </a:pPr>
            <a:r>
              <a:t>Candidate rollouts become less separable.</a:t>
            </a:r>
          </a:p>
          <a:p>
            <a:pPr>
              <a:defRPr sz="1200">
                <a:solidFill>
                  <a:srgbClr val="1F252D"/>
                </a:solidFill>
              </a:defRPr>
            </a:pPr>
            <a:r>
              <a:t>Subspace / spread / ranking might help.</a:t>
            </a:r>
          </a:p>
        </p:txBody>
      </p:sp>
      <p:sp>
        <p:nvSpPr>
          <p:cNvPr id="5" name="Rounded Rectangle 4"/>
          <p:cNvSpPr/>
          <p:nvPr/>
        </p:nvSpPr>
        <p:spPr>
          <a:xfrm>
            <a:off x="4343400" y="1234440"/>
            <a:ext cx="3474720" cy="4480560"/>
          </a:xfrm>
          <a:prstGeom prst="roundRect">
            <a:avLst/>
          </a:prstGeom>
          <a:solidFill>
            <a:srgbClr val="FFFFFF"/>
          </a:solidFill>
          <a:ln>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lIns="164592" rIns="137160" tIns="109728"/>
          <a:lstStyle/>
          <a:p>
            <a:pPr algn="ctr">
              <a:defRPr sz="1500" b="1">
                <a:solidFill>
                  <a:srgbClr val="EA580C"/>
                </a:solidFill>
              </a:defRPr>
            </a:pPr>
            <a:r>
              <a:t>Hypothesis B</a:t>
            </a:r>
          </a:p>
          <a:p>
            <a:pPr>
              <a:defRPr sz="1200">
                <a:solidFill>
                  <a:srgbClr val="1F252D"/>
                </a:solidFill>
              </a:defRPr>
            </a:pPr>
            <a:r>
              <a:t>Candidate generation issue</a:t>
            </a:r>
          </a:p>
          <a:p>
            <a:pPr>
              <a:defRPr sz="1200">
                <a:solidFill>
                  <a:srgbClr val="1F252D"/>
                </a:solidFill>
              </a:defRPr>
            </a:pPr>
            <a:r>
              <a:t>CEM top-k often contains no successful candidate.</a:t>
            </a:r>
          </a:p>
          <a:p>
            <a:pPr>
              <a:defRPr sz="1200">
                <a:solidFill>
                  <a:srgbClr val="1F252D"/>
                </a:solidFill>
              </a:defRPr>
            </a:pPr>
            <a:r>
              <a:t>No reranker can recover if no successful option exists.</a:t>
            </a:r>
          </a:p>
          <a:p>
            <a:pPr>
              <a:defRPr sz="1200">
                <a:solidFill>
                  <a:srgbClr val="1F252D"/>
                </a:solidFill>
              </a:defRPr>
            </a:pPr>
            <a:r>
              <a:t>Need sampling / horizon / rollout analysis.</a:t>
            </a:r>
          </a:p>
        </p:txBody>
      </p:sp>
      <p:sp>
        <p:nvSpPr>
          <p:cNvPr id="6" name="Rounded Rectangle 5"/>
          <p:cNvSpPr/>
          <p:nvPr/>
        </p:nvSpPr>
        <p:spPr>
          <a:xfrm>
            <a:off x="8046720" y="1234440"/>
            <a:ext cx="3474720" cy="4480560"/>
          </a:xfrm>
          <a:prstGeom prst="roundRect">
            <a:avLst/>
          </a:prstGeom>
          <a:solidFill>
            <a:srgbClr val="FFFFFF"/>
          </a:solidFill>
          <a:ln>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lIns="164592" rIns="137160" tIns="109728"/>
          <a:lstStyle/>
          <a:p>
            <a:pPr algn="ctr">
              <a:defRPr sz="1500" b="1">
                <a:solidFill>
                  <a:srgbClr val="16A34A"/>
                </a:solidFill>
              </a:defRPr>
            </a:pPr>
            <a:r>
              <a:t>Hypothesis C</a:t>
            </a:r>
          </a:p>
          <a:p>
            <a:pPr>
              <a:defRPr sz="1200">
                <a:solidFill>
                  <a:srgbClr val="1F252D"/>
                </a:solidFill>
              </a:defRPr>
            </a:pPr>
            <a:r>
              <a:t>Cost mismatch issue</a:t>
            </a:r>
          </a:p>
          <a:p>
            <a:pPr>
              <a:defRPr sz="1200">
                <a:solidFill>
                  <a:srgbClr val="1F252D"/>
                </a:solidFill>
              </a:defRPr>
            </a:pPr>
            <a:r>
              <a:t>Top-k has a successful option, but cost selects a bad one.</a:t>
            </a:r>
          </a:p>
          <a:p>
            <a:pPr>
              <a:defRPr sz="1200">
                <a:solidFill>
                  <a:srgbClr val="1F252D"/>
                </a:solidFill>
              </a:defRPr>
            </a:pPr>
            <a:r>
              <a:t>Could be helped by conservative reranking.</a:t>
            </a:r>
          </a:p>
          <a:p>
            <a:pPr>
              <a:defRPr sz="1200">
                <a:solidFill>
                  <a:srgbClr val="1F252D"/>
                </a:solidFill>
              </a:defRPr>
            </a:pPr>
            <a:r>
              <a:t>But only for misrank cases.</a:t>
            </a:r>
          </a:p>
        </p:txBody>
      </p:sp>
      <p:sp>
        <p:nvSpPr>
          <p:cNvPr id="7" name="TextBox 6"/>
          <p:cNvSpPr txBox="1"/>
          <p:nvPr/>
        </p:nvSpPr>
        <p:spPr>
          <a:xfrm>
            <a:off x="502920" y="6446520"/>
            <a:ext cx="11155680" cy="228600"/>
          </a:xfrm>
          <a:prstGeom prst="rect">
            <a:avLst/>
          </a:prstGeom>
          <a:noFill/>
        </p:spPr>
        <p:txBody>
          <a:bodyPr wrap="none">
            <a:spAutoFit/>
          </a:bodyPr>
          <a:lstStyle/>
          <a:p>
            <a:pPr>
              <a:defRPr sz="900">
                <a:solidFill>
                  <a:srgbClr val="5C6773"/>
                </a:solidFill>
              </a:defRPr>
            </a:pPr>
            <a:r>
              <a:t>MoDA / LeWM planning diagnostics | 2026-05-08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502920"/>
          </a:xfrm>
          <a:prstGeom prst="rect">
            <a:avLst/>
          </a:prstGeom>
          <a:noFill/>
        </p:spPr>
        <p:txBody>
          <a:bodyPr wrap="none">
            <a:spAutoFit/>
          </a:bodyPr>
          <a:lstStyle/>
          <a:p>
            <a:pPr>
              <a:defRPr sz="2600" b="1">
                <a:solidFill>
                  <a:srgbClr val="1F252D"/>
                </a:solidFill>
              </a:defRPr>
            </a:pPr>
            <a:r>
              <a:t>Planning across epochs is unstable</a:t>
            </a:r>
          </a:p>
        </p:txBody>
      </p:sp>
      <p:sp>
        <p:nvSpPr>
          <p:cNvPr id="3" name="TextBox 2"/>
          <p:cNvSpPr txBox="1"/>
          <p:nvPr/>
        </p:nvSpPr>
        <p:spPr>
          <a:xfrm>
            <a:off x="530352" y="868680"/>
            <a:ext cx="10972800" cy="320040"/>
          </a:xfrm>
          <a:prstGeom prst="rect">
            <a:avLst/>
          </a:prstGeom>
          <a:noFill/>
        </p:spPr>
        <p:txBody>
          <a:bodyPr wrap="none">
            <a:spAutoFit/>
          </a:bodyPr>
          <a:lstStyle/>
          <a:p>
            <a:pPr>
              <a:defRPr sz="1200">
                <a:solidFill>
                  <a:srgbClr val="5C6773"/>
                </a:solidFill>
              </a:defRPr>
            </a:pPr>
            <a:r>
              <a:t>Seed42, e20, CEM 300/30/30; gate07 warm-started from pred6</a:t>
            </a:r>
          </a:p>
        </p:txBody>
      </p:sp>
      <p:graphicFrame>
        <p:nvGraphicFramePr>
          <p:cNvPr id="4" name="Table 3"/>
          <p:cNvGraphicFramePr>
            <a:graphicFrameLocks noGrp="1"/>
          </p:cNvGraphicFramePr>
          <p:nvPr/>
        </p:nvGraphicFramePr>
        <p:xfrm>
          <a:off x="594360" y="1234440"/>
          <a:ext cx="10972800" cy="1828800"/>
        </p:xfrm>
        <a:graphic>
          <a:graphicData uri="http://schemas.openxmlformats.org/drawingml/2006/table">
            <a:tbl>
              <a:tblPr firstRow="1" bandRow="1">
                <a:tableStyleId>{5C22544A-7EE6-4342-B048-85BDC9FD1C3A}</a:tableStyleId>
              </a:tblPr>
              <a:tblGrid>
                <a:gridCol w="1828800"/>
                <a:gridCol w="2926080"/>
                <a:gridCol w="2743200"/>
                <a:gridCol w="3474720"/>
              </a:tblGrid>
              <a:tr h="457200">
                <a:tc>
                  <a:txBody>
                    <a:bodyPr/>
                    <a:lstStyle/>
                    <a:p>
                      <a:pPr>
                        <a:defRPr sz="1100" b="1">
                          <a:solidFill>
                            <a:srgbClr val="1F252D"/>
                          </a:solidFill>
                        </a:defRPr>
                      </a:pPr>
                      <a:r>
                        <a:t>Model</a:t>
                      </a:r>
                    </a:p>
                  </a:txBody>
                  <a:tcPr marL="45720" marR="45720" anchor="t">
                    <a:solidFill>
                      <a:srgbClr val="F3F6FA"/>
                    </a:solidFill>
                  </a:tcPr>
                </a:tc>
                <a:tc>
                  <a:txBody>
                    <a:bodyPr/>
                    <a:lstStyle/>
                    <a:p>
                      <a:pPr>
                        <a:defRPr sz="1100" b="1">
                          <a:solidFill>
                            <a:srgbClr val="1F252D"/>
                          </a:solidFill>
                        </a:defRPr>
                      </a:pPr>
                      <a:r>
                        <a:t>Strong early epochs</a:t>
                      </a:r>
                    </a:p>
                  </a:txBody>
                  <a:tcPr marL="45720" marR="45720" anchor="t">
                    <a:solidFill>
                      <a:srgbClr val="F3F6FA"/>
                    </a:solidFill>
                  </a:tcPr>
                </a:tc>
                <a:tc>
                  <a:txBody>
                    <a:bodyPr/>
                    <a:lstStyle/>
                    <a:p>
                      <a:pPr>
                        <a:defRPr sz="1100" b="1">
                          <a:solidFill>
                            <a:srgbClr val="1F252D"/>
                          </a:solidFill>
                        </a:defRPr>
                      </a:pPr>
                      <a:r>
                        <a:t>Later behavior</a:t>
                      </a:r>
                    </a:p>
                  </a:txBody>
                  <a:tcPr marL="45720" marR="45720" anchor="t">
                    <a:solidFill>
                      <a:srgbClr val="F3F6FA"/>
                    </a:solidFill>
                  </a:tcPr>
                </a:tc>
                <a:tc>
                  <a:txBody>
                    <a:bodyPr/>
                    <a:lstStyle/>
                    <a:p>
                      <a:pPr>
                        <a:defRPr sz="1100" b="1">
                          <a:solidFill>
                            <a:srgbClr val="1F252D"/>
                          </a:solidFill>
                        </a:defRPr>
                      </a:pPr>
                      <a:r>
                        <a:t>Takeaway</a:t>
                      </a:r>
                    </a:p>
                  </a:txBody>
                  <a:tcPr marL="45720" marR="45720" anchor="t">
                    <a:solidFill>
                      <a:srgbClr val="F3F6FA"/>
                    </a:solidFill>
                  </a:tcPr>
                </a:tc>
              </a:tr>
              <a:tr h="457200">
                <a:tc>
                  <a:txBody>
                    <a:bodyPr/>
                    <a:lstStyle/>
                    <a:p>
                      <a:pPr>
                        <a:defRPr sz="1100">
                          <a:solidFill>
                            <a:srgbClr val="1F252D"/>
                          </a:solidFill>
                        </a:defRPr>
                      </a:pPr>
                      <a:r>
                        <a:t>pred6</a:t>
                      </a:r>
                    </a:p>
                  </a:txBody>
                  <a:tcPr marL="45720" marR="45720" anchor="t"/>
                </a:tc>
                <a:tc>
                  <a:txBody>
                    <a:bodyPr/>
                    <a:lstStyle/>
                    <a:p>
                      <a:pPr>
                        <a:defRPr sz="1100">
                          <a:solidFill>
                            <a:srgbClr val="1F252D"/>
                          </a:solidFill>
                        </a:defRPr>
                      </a:pPr>
                      <a:r>
                        <a:t>ep3/6/9: 65%</a:t>
                      </a:r>
                    </a:p>
                  </a:txBody>
                  <a:tcPr marL="45720" marR="45720" anchor="t"/>
                </a:tc>
                <a:tc>
                  <a:txBody>
                    <a:bodyPr/>
                    <a:lstStyle/>
                    <a:p>
                      <a:pPr>
                        <a:defRPr sz="1100">
                          <a:solidFill>
                            <a:srgbClr val="1F252D"/>
                          </a:solidFill>
                        </a:defRPr>
                      </a:pPr>
                      <a:r>
                        <a:t>ep11-20 mostly 30-45%</a:t>
                      </a:r>
                    </a:p>
                  </a:txBody>
                  <a:tcPr marL="45720" marR="45720" anchor="t"/>
                </a:tc>
                <a:tc>
                  <a:txBody>
                    <a:bodyPr/>
                    <a:lstStyle/>
                    <a:p>
                      <a:pPr>
                        <a:defRPr sz="1100">
                          <a:solidFill>
                            <a:srgbClr val="1F252D"/>
                          </a:solidFill>
                        </a:defRPr>
                      </a:pPr>
                      <a:r>
                        <a:t>plain pred6 does not keep improving</a:t>
                      </a:r>
                    </a:p>
                  </a:txBody>
                  <a:tcPr marL="45720" marR="45720" anchor="t"/>
                </a:tc>
              </a:tr>
              <a:tr h="457200">
                <a:tc>
                  <a:txBody>
                    <a:bodyPr/>
                    <a:lstStyle/>
                    <a:p>
                      <a:pPr>
                        <a:defRPr sz="1100">
                          <a:solidFill>
                            <a:srgbClr val="1F252D"/>
                          </a:solidFill>
                        </a:defRPr>
                      </a:pPr>
                      <a:r>
                        <a:t>gate07</a:t>
                      </a:r>
                    </a:p>
                  </a:txBody>
                  <a:tcPr marL="45720" marR="45720" anchor="t"/>
                </a:tc>
                <a:tc>
                  <a:txBody>
                    <a:bodyPr/>
                    <a:lstStyle/>
                    <a:p>
                      <a:pPr>
                        <a:defRPr sz="1100">
                          <a:solidFill>
                            <a:srgbClr val="1F252D"/>
                          </a:solidFill>
                        </a:defRPr>
                      </a:pPr>
                      <a:r>
                        <a:t>ep2/3: 75%</a:t>
                      </a:r>
                    </a:p>
                  </a:txBody>
                  <a:tcPr marL="45720" marR="45720" anchor="t"/>
                </a:tc>
                <a:tc>
                  <a:txBody>
                    <a:bodyPr/>
                    <a:lstStyle/>
                    <a:p>
                      <a:pPr>
                        <a:defRPr sz="1100">
                          <a:solidFill>
                            <a:srgbClr val="1F252D"/>
                          </a:solidFill>
                        </a:defRPr>
                      </a:pPr>
                      <a:r>
                        <a:t>ep9=40%, ep17=45%</a:t>
                      </a:r>
                    </a:p>
                  </a:txBody>
                  <a:tcPr marL="45720" marR="45720" anchor="t"/>
                </a:tc>
                <a:tc>
                  <a:txBody>
                    <a:bodyPr/>
                    <a:lstStyle/>
                    <a:p>
                      <a:pPr>
                        <a:defRPr sz="1100">
                          <a:solidFill>
                            <a:srgbClr val="1F252D"/>
                          </a:solidFill>
                        </a:defRPr>
                      </a:pPr>
                      <a:r>
                        <a:t>gate helps early but is unstable later</a:t>
                      </a:r>
                    </a:p>
                  </a:txBody>
                  <a:tcPr marL="45720" marR="45720" anchor="t"/>
                </a:tc>
              </a:tr>
              <a:tr h="457200">
                <a:tc>
                  <a:txBody>
                    <a:bodyPr/>
                    <a:lstStyle/>
                    <a:p>
                      <a:pPr>
                        <a:defRPr sz="1100">
                          <a:solidFill>
                            <a:srgbClr val="1F252D"/>
                          </a:solidFill>
                        </a:defRPr>
                      </a:pPr>
                      <a:r>
                        <a:t>gate07 ep4</a:t>
                      </a:r>
                    </a:p>
                  </a:txBody>
                  <a:tcPr marL="45720" marR="45720" anchor="t"/>
                </a:tc>
                <a:tc>
                  <a:txBody>
                    <a:bodyPr/>
                    <a:lstStyle/>
                    <a:p>
                      <a:pPr>
                        <a:defRPr sz="1100">
                          <a:solidFill>
                            <a:srgbClr val="1F252D"/>
                          </a:solidFill>
                        </a:defRPr>
                      </a:pPr>
                      <a:r>
                        <a:t>50-65% depending eval set</a:t>
                      </a:r>
                    </a:p>
                  </a:txBody>
                  <a:tcPr marL="45720" marR="45720" anchor="t"/>
                </a:tc>
                <a:tc>
                  <a:txBody>
                    <a:bodyPr/>
                    <a:lstStyle/>
                    <a:p>
                      <a:pPr>
                        <a:defRPr sz="1100">
                          <a:solidFill>
                            <a:srgbClr val="1F252D"/>
                          </a:solidFill>
                        </a:defRPr>
                      </a:pPr>
                      <a:r>
                        <a:t>best diagnostic checkpoint</a:t>
                      </a:r>
                    </a:p>
                  </a:txBody>
                  <a:tcPr marL="45720" marR="45720" anchor="t"/>
                </a:tc>
                <a:tc>
                  <a:txBody>
                    <a:bodyPr/>
                    <a:lstStyle/>
                    <a:p>
                      <a:pPr>
                        <a:defRPr sz="1100">
                          <a:solidFill>
                            <a:srgbClr val="1F252D"/>
                          </a:solidFill>
                        </a:defRPr>
                      </a:pPr>
                      <a:r>
                        <a:t>used for top-k oracle / trace</a:t>
                      </a:r>
                    </a:p>
                  </a:txBody>
                  <a:tcPr marL="45720" marR="45720" anchor="t"/>
                </a:tc>
              </a:tr>
            </a:tbl>
          </a:graphicData>
        </a:graphic>
      </p:graphicFrame>
      <p:sp>
        <p:nvSpPr>
          <p:cNvPr id="5" name="Rounded Rectangle 4"/>
          <p:cNvSpPr/>
          <p:nvPr/>
        </p:nvSpPr>
        <p:spPr>
          <a:xfrm>
            <a:off x="822960" y="3657600"/>
            <a:ext cx="10515600" cy="1554480"/>
          </a:xfrm>
          <a:prstGeom prst="roundRect">
            <a:avLst/>
          </a:prstGeom>
          <a:solidFill>
            <a:srgbClr val="FFFFFF"/>
          </a:solidFill>
          <a:ln>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lIns="164592" rIns="137160" tIns="109728"/>
          <a:lstStyle/>
          <a:p>
            <a:pPr algn="ctr">
              <a:defRPr sz="1500" b="1">
                <a:solidFill>
                  <a:srgbClr val="2463EB"/>
                </a:solidFill>
              </a:defRPr>
            </a:pPr>
            <a:r>
              <a:t>Interpretation</a:t>
            </a:r>
          </a:p>
          <a:p>
            <a:pPr>
              <a:defRPr sz="1200">
                <a:solidFill>
                  <a:srgbClr val="1F252D"/>
                </a:solidFill>
              </a:defRPr>
            </a:pPr>
            <a:r>
              <a:t>The issue is not monotonic training progress; planning quality fluctuates strongly across epochs.</a:t>
            </a:r>
          </a:p>
          <a:p>
            <a:pPr>
              <a:defRPr sz="1200">
                <a:solidFill>
                  <a:srgbClr val="1F252D"/>
                </a:solidFill>
              </a:defRPr>
            </a:pPr>
            <a:r>
              <a:t>gate07 has a real early planning signal, but it does not guarantee stable planning-friendly geometry.</a:t>
            </a:r>
          </a:p>
        </p:txBody>
      </p:sp>
      <p:sp>
        <p:nvSpPr>
          <p:cNvPr id="6" name="TextBox 5"/>
          <p:cNvSpPr txBox="1"/>
          <p:nvPr/>
        </p:nvSpPr>
        <p:spPr>
          <a:xfrm>
            <a:off x="502920" y="6446520"/>
            <a:ext cx="11155680" cy="228600"/>
          </a:xfrm>
          <a:prstGeom prst="rect">
            <a:avLst/>
          </a:prstGeom>
          <a:noFill/>
        </p:spPr>
        <p:txBody>
          <a:bodyPr wrap="none">
            <a:spAutoFit/>
          </a:bodyPr>
          <a:lstStyle/>
          <a:p>
            <a:pPr>
              <a:defRPr sz="900">
                <a:solidFill>
                  <a:srgbClr val="5C6773"/>
                </a:solidFill>
              </a:defRPr>
            </a:pPr>
            <a:r>
              <a:t>MoDA / LeWM planning diagnostics | 2026-05-08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502920"/>
          </a:xfrm>
          <a:prstGeom prst="rect">
            <a:avLst/>
          </a:prstGeom>
          <a:noFill/>
        </p:spPr>
        <p:txBody>
          <a:bodyPr wrap="none">
            <a:spAutoFit/>
          </a:bodyPr>
          <a:lstStyle/>
          <a:p>
            <a:pPr>
              <a:defRPr sz="2600" b="1">
                <a:solidFill>
                  <a:srgbClr val="1F252D"/>
                </a:solidFill>
              </a:defRPr>
            </a:pPr>
            <a:r>
              <a:t>Top-k oracle: not purely a ranking problem</a:t>
            </a:r>
          </a:p>
        </p:txBody>
      </p:sp>
      <p:sp>
        <p:nvSpPr>
          <p:cNvPr id="3" name="TextBox 2"/>
          <p:cNvSpPr txBox="1"/>
          <p:nvPr/>
        </p:nvSpPr>
        <p:spPr>
          <a:xfrm>
            <a:off x="530352" y="868680"/>
            <a:ext cx="10972800" cy="320040"/>
          </a:xfrm>
          <a:prstGeom prst="rect">
            <a:avLst/>
          </a:prstGeom>
          <a:noFill/>
        </p:spPr>
        <p:txBody>
          <a:bodyPr wrap="none">
            <a:spAutoFit/>
          </a:bodyPr>
          <a:lstStyle/>
          <a:p>
            <a:pPr>
              <a:defRPr sz="1200">
                <a:solidFill>
                  <a:srgbClr val="5C6773"/>
                </a:solidFill>
              </a:defRPr>
            </a:pPr>
            <a:r>
              <a:t>gate07 ep4, e20, seed42</a:t>
            </a:r>
          </a:p>
        </p:txBody>
      </p:sp>
      <p:graphicFrame>
        <p:nvGraphicFramePr>
          <p:cNvPr id="4" name="Table 3"/>
          <p:cNvGraphicFramePr>
            <a:graphicFrameLocks noGrp="1"/>
          </p:cNvGraphicFramePr>
          <p:nvPr/>
        </p:nvGraphicFramePr>
        <p:xfrm>
          <a:off x="594360" y="1143000"/>
          <a:ext cx="9692640" cy="1554480"/>
        </p:xfrm>
        <a:graphic>
          <a:graphicData uri="http://schemas.openxmlformats.org/drawingml/2006/table">
            <a:tbl>
              <a:tblPr firstRow="1" bandRow="1">
                <a:tableStyleId>{5C22544A-7EE6-4342-B048-85BDC9FD1C3A}</a:tableStyleId>
              </a:tblPr>
              <a:tblGrid>
                <a:gridCol w="2194560"/>
                <a:gridCol w="1463040"/>
                <a:gridCol w="1463040"/>
                <a:gridCol w="914400"/>
                <a:gridCol w="1828800"/>
                <a:gridCol w="1828800"/>
              </a:tblGrid>
              <a:tr h="388620">
                <a:tc>
                  <a:txBody>
                    <a:bodyPr/>
                    <a:lstStyle/>
                    <a:p>
                      <a:pPr>
                        <a:defRPr sz="1100" b="1">
                          <a:solidFill>
                            <a:srgbClr val="1F252D"/>
                          </a:solidFill>
                        </a:defRPr>
                      </a:pPr>
                      <a:r>
                        <a:t>Setting</a:t>
                      </a:r>
                    </a:p>
                  </a:txBody>
                  <a:tcPr marL="45720" marR="45720" anchor="t">
                    <a:solidFill>
                      <a:srgbClr val="F3F6FA"/>
                    </a:solidFill>
                  </a:tcPr>
                </a:tc>
                <a:tc>
                  <a:txBody>
                    <a:bodyPr/>
                    <a:lstStyle/>
                    <a:p>
                      <a:pPr>
                        <a:defRPr sz="1100" b="1">
                          <a:solidFill>
                            <a:srgbClr val="1F252D"/>
                          </a:solidFill>
                        </a:defRPr>
                      </a:pPr>
                      <a:r>
                        <a:t>Top1 success</a:t>
                      </a:r>
                    </a:p>
                  </a:txBody>
                  <a:tcPr marL="45720" marR="45720" anchor="t">
                    <a:solidFill>
                      <a:srgbClr val="F3F6FA"/>
                    </a:solidFill>
                  </a:tcPr>
                </a:tc>
                <a:tc>
                  <a:txBody>
                    <a:bodyPr/>
                    <a:lstStyle/>
                    <a:p>
                      <a:pPr>
                        <a:defRPr sz="1100" b="1">
                          <a:solidFill>
                            <a:srgbClr val="1F252D"/>
                          </a:solidFill>
                        </a:defRPr>
                      </a:pPr>
                      <a:r>
                        <a:t>Oracle top-k</a:t>
                      </a:r>
                    </a:p>
                  </a:txBody>
                  <a:tcPr marL="45720" marR="45720" anchor="t">
                    <a:solidFill>
                      <a:srgbClr val="F3F6FA"/>
                    </a:solidFill>
                  </a:tcPr>
                </a:tc>
                <a:tc>
                  <a:txBody>
                    <a:bodyPr/>
                    <a:lstStyle/>
                    <a:p>
                      <a:pPr>
                        <a:defRPr sz="1100" b="1">
                          <a:solidFill>
                            <a:srgbClr val="1F252D"/>
                          </a:solidFill>
                        </a:defRPr>
                      </a:pPr>
                      <a:r>
                        <a:t>Gap</a:t>
                      </a:r>
                    </a:p>
                  </a:txBody>
                  <a:tcPr marL="45720" marR="45720" anchor="t">
                    <a:solidFill>
                      <a:srgbClr val="F3F6FA"/>
                    </a:solidFill>
                  </a:tcPr>
                </a:tc>
                <a:tc>
                  <a:txBody>
                    <a:bodyPr/>
                    <a:lstStyle/>
                    <a:p>
                      <a:pPr>
                        <a:defRPr sz="1100" b="1">
                          <a:solidFill>
                            <a:srgbClr val="1F252D"/>
                          </a:solidFill>
                        </a:defRPr>
                      </a:pPr>
                      <a:r>
                        <a:t>Misrank cases</a:t>
                      </a:r>
                    </a:p>
                  </a:txBody>
                  <a:tcPr marL="45720" marR="45720" anchor="t">
                    <a:solidFill>
                      <a:srgbClr val="F3F6FA"/>
                    </a:solidFill>
                  </a:tcPr>
                </a:tc>
                <a:tc>
                  <a:txBody>
                    <a:bodyPr/>
                    <a:lstStyle/>
                    <a:p>
                      <a:pPr>
                        <a:defRPr sz="1100" b="1">
                          <a:solidFill>
                            <a:srgbClr val="1F252D"/>
                          </a:solidFill>
                        </a:defRPr>
                      </a:pPr>
                      <a:r>
                        <a:t>No-hit cases</a:t>
                      </a:r>
                    </a:p>
                  </a:txBody>
                  <a:tcPr marL="45720" marR="45720" anchor="t">
                    <a:solidFill>
                      <a:srgbClr val="F3F6FA"/>
                    </a:solidFill>
                  </a:tcPr>
                </a:tc>
              </a:tr>
              <a:tr h="388620">
                <a:tc>
                  <a:txBody>
                    <a:bodyPr/>
                    <a:lstStyle/>
                    <a:p>
                      <a:pPr>
                        <a:defRPr sz="1100">
                          <a:solidFill>
                            <a:srgbClr val="1F252D"/>
                          </a:solidFill>
                        </a:defRPr>
                      </a:pPr>
                      <a:r>
                        <a:t>s300 top30</a:t>
                      </a:r>
                    </a:p>
                  </a:txBody>
                  <a:tcPr marL="45720" marR="45720" anchor="t"/>
                </a:tc>
                <a:tc>
                  <a:txBody>
                    <a:bodyPr/>
                    <a:lstStyle/>
                    <a:p>
                      <a:pPr>
                        <a:defRPr sz="1100">
                          <a:solidFill>
                            <a:srgbClr val="1F252D"/>
                          </a:solidFill>
                        </a:defRPr>
                      </a:pPr>
                      <a:r>
                        <a:t>50%</a:t>
                      </a:r>
                    </a:p>
                  </a:txBody>
                  <a:tcPr marL="45720" marR="45720" anchor="t"/>
                </a:tc>
                <a:tc>
                  <a:txBody>
                    <a:bodyPr/>
                    <a:lstStyle/>
                    <a:p>
                      <a:pPr>
                        <a:defRPr sz="1100">
                          <a:solidFill>
                            <a:srgbClr val="1F252D"/>
                          </a:solidFill>
                        </a:defRPr>
                      </a:pPr>
                      <a:r>
                        <a:t>65%</a:t>
                      </a:r>
                    </a:p>
                  </a:txBody>
                  <a:tcPr marL="45720" marR="45720" anchor="t"/>
                </a:tc>
                <a:tc>
                  <a:txBody>
                    <a:bodyPr/>
                    <a:lstStyle/>
                    <a:p>
                      <a:pPr>
                        <a:defRPr sz="1100">
                          <a:solidFill>
                            <a:srgbClr val="1F252D"/>
                          </a:solidFill>
                        </a:defRPr>
                      </a:pPr>
                      <a:r>
                        <a:t>+15</a:t>
                      </a:r>
                    </a:p>
                  </a:txBody>
                  <a:tcPr marL="45720" marR="45720" anchor="t"/>
                </a:tc>
                <a:tc>
                  <a:txBody>
                    <a:bodyPr/>
                    <a:lstStyle/>
                    <a:p>
                      <a:pPr>
                        <a:defRPr sz="1100">
                          <a:solidFill>
                            <a:srgbClr val="1F252D"/>
                          </a:solidFill>
                        </a:defRPr>
                      </a:pPr>
                      <a:r>
                        <a:t>3 / 20</a:t>
                      </a:r>
                    </a:p>
                  </a:txBody>
                  <a:tcPr marL="45720" marR="45720" anchor="t"/>
                </a:tc>
                <a:tc>
                  <a:txBody>
                    <a:bodyPr/>
                    <a:lstStyle/>
                    <a:p>
                      <a:pPr>
                        <a:defRPr sz="1100">
                          <a:solidFill>
                            <a:srgbClr val="1F252D"/>
                          </a:solidFill>
                        </a:defRPr>
                      </a:pPr>
                      <a:r>
                        <a:t>7 / 20</a:t>
                      </a:r>
                    </a:p>
                  </a:txBody>
                  <a:tcPr marL="45720" marR="45720" anchor="t"/>
                </a:tc>
              </a:tr>
              <a:tr h="388620">
                <a:tc>
                  <a:txBody>
                    <a:bodyPr/>
                    <a:lstStyle/>
                    <a:p>
                      <a:pPr>
                        <a:defRPr sz="1100">
                          <a:solidFill>
                            <a:srgbClr val="1F252D"/>
                          </a:solidFill>
                        </a:defRPr>
                      </a:pPr>
                      <a:r>
                        <a:t>s600 top60</a:t>
                      </a:r>
                    </a:p>
                  </a:txBody>
                  <a:tcPr marL="45720" marR="45720" anchor="t"/>
                </a:tc>
                <a:tc>
                  <a:txBody>
                    <a:bodyPr/>
                    <a:lstStyle/>
                    <a:p>
                      <a:pPr>
                        <a:defRPr sz="1100">
                          <a:solidFill>
                            <a:srgbClr val="1F252D"/>
                          </a:solidFill>
                        </a:defRPr>
                      </a:pPr>
                      <a:r>
                        <a:t>60%</a:t>
                      </a:r>
                    </a:p>
                  </a:txBody>
                  <a:tcPr marL="45720" marR="45720" anchor="t"/>
                </a:tc>
                <a:tc>
                  <a:txBody>
                    <a:bodyPr/>
                    <a:lstStyle/>
                    <a:p>
                      <a:pPr>
                        <a:defRPr sz="1100">
                          <a:solidFill>
                            <a:srgbClr val="1F252D"/>
                          </a:solidFill>
                        </a:defRPr>
                      </a:pPr>
                      <a:r>
                        <a:t>75%</a:t>
                      </a:r>
                    </a:p>
                  </a:txBody>
                  <a:tcPr marL="45720" marR="45720" anchor="t"/>
                </a:tc>
                <a:tc>
                  <a:txBody>
                    <a:bodyPr/>
                    <a:lstStyle/>
                    <a:p>
                      <a:pPr>
                        <a:defRPr sz="1100">
                          <a:solidFill>
                            <a:srgbClr val="1F252D"/>
                          </a:solidFill>
                        </a:defRPr>
                      </a:pPr>
                      <a:r>
                        <a:t>+15</a:t>
                      </a:r>
                    </a:p>
                  </a:txBody>
                  <a:tcPr marL="45720" marR="45720" anchor="t"/>
                </a:tc>
                <a:tc>
                  <a:txBody>
                    <a:bodyPr/>
                    <a:lstStyle/>
                    <a:p>
                      <a:pPr>
                        <a:defRPr sz="1100">
                          <a:solidFill>
                            <a:srgbClr val="1F252D"/>
                          </a:solidFill>
                        </a:defRPr>
                      </a:pPr>
                      <a:r>
                        <a:t>3 / 20</a:t>
                      </a:r>
                    </a:p>
                  </a:txBody>
                  <a:tcPr marL="45720" marR="45720" anchor="t"/>
                </a:tc>
                <a:tc>
                  <a:txBody>
                    <a:bodyPr/>
                    <a:lstStyle/>
                    <a:p>
                      <a:pPr>
                        <a:defRPr sz="1100">
                          <a:solidFill>
                            <a:srgbClr val="1F252D"/>
                          </a:solidFill>
                        </a:defRPr>
                      </a:pPr>
                      <a:r>
                        <a:t>5 / 20</a:t>
                      </a:r>
                    </a:p>
                  </a:txBody>
                  <a:tcPr marL="45720" marR="45720" anchor="t"/>
                </a:tc>
              </a:tr>
              <a:tr h="388620">
                <a:tc>
                  <a:txBody>
                    <a:bodyPr/>
                    <a:lstStyle/>
                    <a:p>
                      <a:pPr>
                        <a:defRPr sz="1100">
                          <a:solidFill>
                            <a:srgbClr val="1F252D"/>
                          </a:solidFill>
                        </a:defRPr>
                      </a:pPr>
                      <a:r>
                        <a:t>s1000 top100</a:t>
                      </a:r>
                    </a:p>
                  </a:txBody>
                  <a:tcPr marL="45720" marR="45720" anchor="t"/>
                </a:tc>
                <a:tc>
                  <a:txBody>
                    <a:bodyPr/>
                    <a:lstStyle/>
                    <a:p>
                      <a:pPr>
                        <a:defRPr sz="1100">
                          <a:solidFill>
                            <a:srgbClr val="1F252D"/>
                          </a:solidFill>
                        </a:defRPr>
                      </a:pPr>
                      <a:r>
                        <a:t>60%</a:t>
                      </a:r>
                    </a:p>
                  </a:txBody>
                  <a:tcPr marL="45720" marR="45720" anchor="t"/>
                </a:tc>
                <a:tc>
                  <a:txBody>
                    <a:bodyPr/>
                    <a:lstStyle/>
                    <a:p>
                      <a:pPr>
                        <a:defRPr sz="1100">
                          <a:solidFill>
                            <a:srgbClr val="1F252D"/>
                          </a:solidFill>
                        </a:defRPr>
                      </a:pPr>
                      <a:r>
                        <a:t>75%</a:t>
                      </a:r>
                    </a:p>
                  </a:txBody>
                  <a:tcPr marL="45720" marR="45720" anchor="t"/>
                </a:tc>
                <a:tc>
                  <a:txBody>
                    <a:bodyPr/>
                    <a:lstStyle/>
                    <a:p>
                      <a:pPr>
                        <a:defRPr sz="1100">
                          <a:solidFill>
                            <a:srgbClr val="1F252D"/>
                          </a:solidFill>
                        </a:defRPr>
                      </a:pPr>
                      <a:r>
                        <a:t>+15</a:t>
                      </a:r>
                    </a:p>
                  </a:txBody>
                  <a:tcPr marL="45720" marR="45720" anchor="t"/>
                </a:tc>
                <a:tc>
                  <a:txBody>
                    <a:bodyPr/>
                    <a:lstStyle/>
                    <a:p>
                      <a:pPr>
                        <a:defRPr sz="1100">
                          <a:solidFill>
                            <a:srgbClr val="1F252D"/>
                          </a:solidFill>
                        </a:defRPr>
                      </a:pPr>
                      <a:r>
                        <a:t>3 / 20</a:t>
                      </a:r>
                    </a:p>
                  </a:txBody>
                  <a:tcPr marL="45720" marR="45720" anchor="t"/>
                </a:tc>
                <a:tc>
                  <a:txBody>
                    <a:bodyPr/>
                    <a:lstStyle/>
                    <a:p>
                      <a:pPr>
                        <a:defRPr sz="1100">
                          <a:solidFill>
                            <a:srgbClr val="1F252D"/>
                          </a:solidFill>
                        </a:defRPr>
                      </a:pPr>
                      <a:r>
                        <a:t>5 / 20</a:t>
                      </a:r>
                    </a:p>
                  </a:txBody>
                  <a:tcPr marL="45720" marR="45720" anchor="t"/>
                </a:tc>
              </a:tr>
            </a:tbl>
          </a:graphicData>
        </a:graphic>
      </p:graphicFrame>
      <p:sp>
        <p:nvSpPr>
          <p:cNvPr id="5" name="Rounded Rectangle 4"/>
          <p:cNvSpPr/>
          <p:nvPr/>
        </p:nvSpPr>
        <p:spPr>
          <a:xfrm>
            <a:off x="777240" y="3154680"/>
            <a:ext cx="5212080" cy="2148840"/>
          </a:xfrm>
          <a:prstGeom prst="roundRect">
            <a:avLst/>
          </a:prstGeom>
          <a:solidFill>
            <a:srgbClr val="FFFFFF"/>
          </a:solidFill>
          <a:ln>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lIns="164592" rIns="137160" tIns="109728"/>
          <a:lstStyle/>
          <a:p>
            <a:pPr algn="ctr">
              <a:defRPr sz="1500" b="1">
                <a:solidFill>
                  <a:srgbClr val="16A34A"/>
                </a:solidFill>
              </a:defRPr>
            </a:pPr>
            <a:r>
              <a:t>What reranking can fix</a:t>
            </a:r>
          </a:p>
          <a:p>
            <a:pPr>
              <a:defRPr sz="1200">
                <a:solidFill>
                  <a:srgbClr val="1F252D"/>
                </a:solidFill>
              </a:defRPr>
            </a:pPr>
            <a:r>
              <a:t>Only the misrank cases: top-k contains success but top1 is wrong.</a:t>
            </a:r>
          </a:p>
          <a:p>
            <a:pPr>
              <a:defRPr sz="1200">
                <a:solidFill>
                  <a:srgbClr val="1F252D"/>
                </a:solidFill>
              </a:defRPr>
            </a:pPr>
            <a:r>
              <a:t>Consistently about 3 / 20 cases in these settings.</a:t>
            </a:r>
          </a:p>
        </p:txBody>
      </p:sp>
      <p:sp>
        <p:nvSpPr>
          <p:cNvPr id="6" name="Rounded Rectangle 5"/>
          <p:cNvSpPr/>
          <p:nvPr/>
        </p:nvSpPr>
        <p:spPr>
          <a:xfrm>
            <a:off x="6263640" y="3154680"/>
            <a:ext cx="5212080" cy="2148840"/>
          </a:xfrm>
          <a:prstGeom prst="roundRect">
            <a:avLst/>
          </a:prstGeom>
          <a:solidFill>
            <a:srgbClr val="FFFFFF"/>
          </a:solidFill>
          <a:ln>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lIns="164592" rIns="137160" tIns="109728"/>
          <a:lstStyle/>
          <a:p>
            <a:pPr algn="ctr">
              <a:defRPr sz="1500" b="1">
                <a:solidFill>
                  <a:srgbClr val="DC2626"/>
                </a:solidFill>
              </a:defRPr>
            </a:pPr>
            <a:r>
              <a:t>What reranking cannot fix</a:t>
            </a:r>
          </a:p>
          <a:p>
            <a:pPr>
              <a:defRPr sz="1200">
                <a:solidFill>
                  <a:srgbClr val="1F252D"/>
                </a:solidFill>
              </a:defRPr>
            </a:pPr>
            <a:r>
              <a:t>No-hit cases: top-k contains no successful candidate.</a:t>
            </a:r>
          </a:p>
          <a:p>
            <a:pPr>
              <a:defRPr sz="1200">
                <a:solidFill>
                  <a:srgbClr val="1F252D"/>
                </a:solidFill>
              </a:defRPr>
            </a:pPr>
            <a:r>
              <a:t>Still 5 / 20 even with s1000 top100.</a:t>
            </a:r>
          </a:p>
        </p:txBody>
      </p:sp>
      <p:sp>
        <p:nvSpPr>
          <p:cNvPr id="7" name="TextBox 6"/>
          <p:cNvSpPr txBox="1"/>
          <p:nvPr/>
        </p:nvSpPr>
        <p:spPr>
          <a:xfrm>
            <a:off x="640080" y="5989320"/>
            <a:ext cx="10972800" cy="320040"/>
          </a:xfrm>
          <a:prstGeom prst="rect">
            <a:avLst/>
          </a:prstGeom>
          <a:noFill/>
        </p:spPr>
        <p:txBody>
          <a:bodyPr wrap="none">
            <a:spAutoFit/>
          </a:bodyPr>
          <a:lstStyle/>
          <a:p>
            <a:pPr>
              <a:defRPr sz="1300" b="1">
                <a:solidFill>
                  <a:srgbClr val="EA580C"/>
                </a:solidFill>
              </a:defRPr>
            </a:pPr>
            <a:r>
              <a:t>Therefore reranker/value critic is a secondary patch, not the main solution.</a:t>
            </a:r>
          </a:p>
        </p:txBody>
      </p:sp>
      <p:sp>
        <p:nvSpPr>
          <p:cNvPr id="8" name="TextBox 7"/>
          <p:cNvSpPr txBox="1"/>
          <p:nvPr/>
        </p:nvSpPr>
        <p:spPr>
          <a:xfrm>
            <a:off x="502920" y="6446520"/>
            <a:ext cx="11155680" cy="228600"/>
          </a:xfrm>
          <a:prstGeom prst="rect">
            <a:avLst/>
          </a:prstGeom>
          <a:noFill/>
        </p:spPr>
        <p:txBody>
          <a:bodyPr wrap="none">
            <a:spAutoFit/>
          </a:bodyPr>
          <a:lstStyle/>
          <a:p>
            <a:pPr>
              <a:defRPr sz="900">
                <a:solidFill>
                  <a:srgbClr val="5C6773"/>
                </a:solidFill>
              </a:defRPr>
            </a:pPr>
            <a:r>
              <a:t>MoDA / LeWM planning diagnostics | 2026-05-08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502920"/>
          </a:xfrm>
          <a:prstGeom prst="rect">
            <a:avLst/>
          </a:prstGeom>
          <a:noFill/>
        </p:spPr>
        <p:txBody>
          <a:bodyPr wrap="none">
            <a:spAutoFit/>
          </a:bodyPr>
          <a:lstStyle/>
          <a:p>
            <a:pPr>
              <a:defRPr sz="2600" b="1">
                <a:solidFill>
                  <a:srgbClr val="1F252D"/>
                </a:solidFill>
              </a:defRPr>
            </a:pPr>
            <a:r>
              <a:t>CEM trace: successful cases keep more candidate diversity</a:t>
            </a:r>
          </a:p>
        </p:txBody>
      </p:sp>
      <p:sp>
        <p:nvSpPr>
          <p:cNvPr id="3" name="TextBox 2"/>
          <p:cNvSpPr txBox="1"/>
          <p:nvPr/>
        </p:nvSpPr>
        <p:spPr>
          <a:xfrm>
            <a:off x="530352" y="868680"/>
            <a:ext cx="10972800" cy="320040"/>
          </a:xfrm>
          <a:prstGeom prst="rect">
            <a:avLst/>
          </a:prstGeom>
          <a:noFill/>
        </p:spPr>
        <p:txBody>
          <a:bodyPr wrap="none">
            <a:spAutoFit/>
          </a:bodyPr>
          <a:lstStyle/>
          <a:p>
            <a:pPr>
              <a:defRPr sz="1200">
                <a:solidFill>
                  <a:srgbClr val="5C6773"/>
                </a:solidFill>
              </a:defRPr>
            </a:pPr>
            <a:r>
              <a:t>gate07 ep4, e20, s300/top30/30 steps</a:t>
            </a:r>
          </a:p>
        </p:txBody>
      </p:sp>
      <p:graphicFrame>
        <p:nvGraphicFramePr>
          <p:cNvPr id="4" name="Table 3"/>
          <p:cNvGraphicFramePr>
            <a:graphicFrameLocks noGrp="1"/>
          </p:cNvGraphicFramePr>
          <p:nvPr/>
        </p:nvGraphicFramePr>
        <p:xfrm>
          <a:off x="594360" y="1143000"/>
          <a:ext cx="10515600" cy="1645920"/>
        </p:xfrm>
        <a:graphic>
          <a:graphicData uri="http://schemas.openxmlformats.org/drawingml/2006/table">
            <a:tbl>
              <a:tblPr firstRow="1" bandRow="1">
                <a:tableStyleId>{5C22544A-7EE6-4342-B048-85BDC9FD1C3A}</a:tableStyleId>
              </a:tblPr>
              <a:tblGrid>
                <a:gridCol w="2194560"/>
                <a:gridCol w="2286000"/>
                <a:gridCol w="2286000"/>
                <a:gridCol w="2103120"/>
                <a:gridCol w="1645920"/>
              </a:tblGrid>
              <a:tr h="411480">
                <a:tc>
                  <a:txBody>
                    <a:bodyPr/>
                    <a:lstStyle/>
                    <a:p>
                      <a:pPr>
                        <a:defRPr sz="1100" b="1">
                          <a:solidFill>
                            <a:srgbClr val="1F252D"/>
                          </a:solidFill>
                        </a:defRPr>
                      </a:pPr>
                      <a:r>
                        <a:t>Class</a:t>
                      </a:r>
                    </a:p>
                  </a:txBody>
                  <a:tcPr marL="45720" marR="45720" anchor="t">
                    <a:solidFill>
                      <a:srgbClr val="F3F6FA"/>
                    </a:solidFill>
                  </a:tcPr>
                </a:tc>
                <a:tc>
                  <a:txBody>
                    <a:bodyPr/>
                    <a:lstStyle/>
                    <a:p>
                      <a:pPr>
                        <a:defRPr sz="1100" b="1">
                          <a:solidFill>
                            <a:srgbClr val="1F252D"/>
                          </a:solidFill>
                        </a:defRPr>
                      </a:pPr>
                      <a:r>
                        <a:t>candidate traj spread</a:t>
                      </a:r>
                    </a:p>
                  </a:txBody>
                  <a:tcPr marL="45720" marR="45720" anchor="t">
                    <a:solidFill>
                      <a:srgbClr val="F3F6FA"/>
                    </a:solidFill>
                  </a:tcPr>
                </a:tc>
                <a:tc>
                  <a:txBody>
                    <a:bodyPr/>
                    <a:lstStyle/>
                    <a:p>
                      <a:pPr>
                        <a:defRPr sz="1100" b="1">
                          <a:solidFill>
                            <a:srgbClr val="1F252D"/>
                          </a:solidFill>
                        </a:defRPr>
                      </a:pPr>
                      <a:r>
                        <a:t>top-k traj spread</a:t>
                      </a:r>
                    </a:p>
                  </a:txBody>
                  <a:tcPr marL="45720" marR="45720" anchor="t">
                    <a:solidFill>
                      <a:srgbClr val="F3F6FA"/>
                    </a:solidFill>
                  </a:tcPr>
                </a:tc>
                <a:tc>
                  <a:txBody>
                    <a:bodyPr/>
                    <a:lstStyle/>
                    <a:p>
                      <a:pPr>
                        <a:defRPr sz="1100" b="1">
                          <a:solidFill>
                            <a:srgbClr val="1F252D"/>
                          </a:solidFill>
                        </a:defRPr>
                      </a:pPr>
                      <a:r>
                        <a:t>top1-top2 emb L2</a:t>
                      </a:r>
                    </a:p>
                  </a:txBody>
                  <a:tcPr marL="45720" marR="45720" anchor="t">
                    <a:solidFill>
                      <a:srgbClr val="F3F6FA"/>
                    </a:solidFill>
                  </a:tcPr>
                </a:tc>
                <a:tc>
                  <a:txBody>
                    <a:bodyPr/>
                    <a:lstStyle/>
                    <a:p>
                      <a:pPr>
                        <a:defRPr sz="1100" b="1">
                          <a:solidFill>
                            <a:srgbClr val="1F252D"/>
                          </a:solidFill>
                        </a:defRPr>
                      </a:pPr>
                      <a:r>
                        <a:t>top2 margin</a:t>
                      </a:r>
                    </a:p>
                  </a:txBody>
                  <a:tcPr marL="45720" marR="45720" anchor="t">
                    <a:solidFill>
                      <a:srgbClr val="F3F6FA"/>
                    </a:solidFill>
                  </a:tcPr>
                </a:tc>
              </a:tr>
              <a:tr h="411480">
                <a:tc>
                  <a:txBody>
                    <a:bodyPr/>
                    <a:lstStyle/>
                    <a:p>
                      <a:pPr>
                        <a:defRPr sz="1100">
                          <a:solidFill>
                            <a:srgbClr val="1F252D"/>
                          </a:solidFill>
                        </a:defRPr>
                      </a:pPr>
                      <a:r>
                        <a:t>selected success</a:t>
                      </a:r>
                    </a:p>
                  </a:txBody>
                  <a:tcPr marL="45720" marR="45720" anchor="t"/>
                </a:tc>
                <a:tc>
                  <a:txBody>
                    <a:bodyPr/>
                    <a:lstStyle/>
                    <a:p>
                      <a:pPr>
                        <a:defRPr sz="1100">
                          <a:solidFill>
                            <a:srgbClr val="1F252D"/>
                          </a:solidFill>
                        </a:defRPr>
                      </a:pPr>
                      <a:r>
                        <a:t>3.821</a:t>
                      </a:r>
                    </a:p>
                  </a:txBody>
                  <a:tcPr marL="45720" marR="45720" anchor="t"/>
                </a:tc>
                <a:tc>
                  <a:txBody>
                    <a:bodyPr/>
                    <a:lstStyle/>
                    <a:p>
                      <a:pPr>
                        <a:defRPr sz="1100">
                          <a:solidFill>
                            <a:srgbClr val="1F252D"/>
                          </a:solidFill>
                        </a:defRPr>
                      </a:pPr>
                      <a:r>
                        <a:t>1.265</a:t>
                      </a:r>
                    </a:p>
                  </a:txBody>
                  <a:tcPr marL="45720" marR="45720" anchor="t"/>
                </a:tc>
                <a:tc>
                  <a:txBody>
                    <a:bodyPr/>
                    <a:lstStyle/>
                    <a:p>
                      <a:pPr>
                        <a:defRPr sz="1100">
                          <a:solidFill>
                            <a:srgbClr val="1F252D"/>
                          </a:solidFill>
                        </a:defRPr>
                      </a:pPr>
                      <a:r>
                        <a:t>0.451</a:t>
                      </a:r>
                    </a:p>
                  </a:txBody>
                  <a:tcPr marL="45720" marR="45720" anchor="t"/>
                </a:tc>
                <a:tc>
                  <a:txBody>
                    <a:bodyPr/>
                    <a:lstStyle/>
                    <a:p>
                      <a:pPr>
                        <a:defRPr sz="1100">
                          <a:solidFill>
                            <a:srgbClr val="1F252D"/>
                          </a:solidFill>
                        </a:defRPr>
                      </a:pPr>
                      <a:r>
                        <a:t>0.0486</a:t>
                      </a:r>
                    </a:p>
                  </a:txBody>
                  <a:tcPr marL="45720" marR="45720" anchor="t"/>
                </a:tc>
              </a:tr>
              <a:tr h="411480">
                <a:tc>
                  <a:txBody>
                    <a:bodyPr/>
                    <a:lstStyle/>
                    <a:p>
                      <a:pPr>
                        <a:defRPr sz="1100">
                          <a:solidFill>
                            <a:srgbClr val="1F252D"/>
                          </a:solidFill>
                        </a:defRPr>
                      </a:pPr>
                      <a:r>
                        <a:t>misrank</a:t>
                      </a:r>
                    </a:p>
                  </a:txBody>
                  <a:tcPr marL="45720" marR="45720" anchor="t"/>
                </a:tc>
                <a:tc>
                  <a:txBody>
                    <a:bodyPr/>
                    <a:lstStyle/>
                    <a:p>
                      <a:pPr>
                        <a:defRPr sz="1100">
                          <a:solidFill>
                            <a:srgbClr val="1F252D"/>
                          </a:solidFill>
                        </a:defRPr>
                      </a:pPr>
                      <a:r>
                        <a:t>1.611</a:t>
                      </a:r>
                    </a:p>
                  </a:txBody>
                  <a:tcPr marL="45720" marR="45720" anchor="t"/>
                </a:tc>
                <a:tc>
                  <a:txBody>
                    <a:bodyPr/>
                    <a:lstStyle/>
                    <a:p>
                      <a:pPr>
                        <a:defRPr sz="1100">
                          <a:solidFill>
                            <a:srgbClr val="1F252D"/>
                          </a:solidFill>
                        </a:defRPr>
                      </a:pPr>
                      <a:r>
                        <a:t>0.604</a:t>
                      </a:r>
                    </a:p>
                  </a:txBody>
                  <a:tcPr marL="45720" marR="45720" anchor="t"/>
                </a:tc>
                <a:tc>
                  <a:txBody>
                    <a:bodyPr/>
                    <a:lstStyle/>
                    <a:p>
                      <a:pPr>
                        <a:defRPr sz="1100">
                          <a:solidFill>
                            <a:srgbClr val="1F252D"/>
                          </a:solidFill>
                        </a:defRPr>
                      </a:pPr>
                      <a:r>
                        <a:t>0.157</a:t>
                      </a:r>
                    </a:p>
                  </a:txBody>
                  <a:tcPr marL="45720" marR="45720" anchor="t"/>
                </a:tc>
                <a:tc>
                  <a:txBody>
                    <a:bodyPr/>
                    <a:lstStyle/>
                    <a:p>
                      <a:pPr>
                        <a:defRPr sz="1100">
                          <a:solidFill>
                            <a:srgbClr val="1F252D"/>
                          </a:solidFill>
                        </a:defRPr>
                      </a:pPr>
                      <a:r>
                        <a:t>0.0158</a:t>
                      </a:r>
                    </a:p>
                  </a:txBody>
                  <a:tcPr marL="45720" marR="45720" anchor="t"/>
                </a:tc>
              </a:tr>
              <a:tr h="411480">
                <a:tc>
                  <a:txBody>
                    <a:bodyPr/>
                    <a:lstStyle/>
                    <a:p>
                      <a:pPr>
                        <a:defRPr sz="1100">
                          <a:solidFill>
                            <a:srgbClr val="1F252D"/>
                          </a:solidFill>
                        </a:defRPr>
                      </a:pPr>
                      <a:r>
                        <a:t>no-hit</a:t>
                      </a:r>
                    </a:p>
                  </a:txBody>
                  <a:tcPr marL="45720" marR="45720" anchor="t"/>
                </a:tc>
                <a:tc>
                  <a:txBody>
                    <a:bodyPr/>
                    <a:lstStyle/>
                    <a:p>
                      <a:pPr>
                        <a:defRPr sz="1100">
                          <a:solidFill>
                            <a:srgbClr val="1F252D"/>
                          </a:solidFill>
                        </a:defRPr>
                      </a:pPr>
                      <a:r>
                        <a:t>1.101</a:t>
                      </a:r>
                    </a:p>
                  </a:txBody>
                  <a:tcPr marL="45720" marR="45720" anchor="t"/>
                </a:tc>
                <a:tc>
                  <a:txBody>
                    <a:bodyPr/>
                    <a:lstStyle/>
                    <a:p>
                      <a:pPr>
                        <a:defRPr sz="1100">
                          <a:solidFill>
                            <a:srgbClr val="1F252D"/>
                          </a:solidFill>
                        </a:defRPr>
                      </a:pPr>
                      <a:r>
                        <a:t>0.430</a:t>
                      </a:r>
                    </a:p>
                  </a:txBody>
                  <a:tcPr marL="45720" marR="45720" anchor="t"/>
                </a:tc>
                <a:tc>
                  <a:txBody>
                    <a:bodyPr/>
                    <a:lstStyle/>
                    <a:p>
                      <a:pPr>
                        <a:defRPr sz="1100">
                          <a:solidFill>
                            <a:srgbClr val="1F252D"/>
                          </a:solidFill>
                        </a:defRPr>
                      </a:pPr>
                      <a:r>
                        <a:t>0.211</a:t>
                      </a:r>
                    </a:p>
                  </a:txBody>
                  <a:tcPr marL="45720" marR="45720" anchor="t"/>
                </a:tc>
                <a:tc>
                  <a:txBody>
                    <a:bodyPr/>
                    <a:lstStyle/>
                    <a:p>
                      <a:pPr>
                        <a:defRPr sz="1100">
                          <a:solidFill>
                            <a:srgbClr val="1F252D"/>
                          </a:solidFill>
                        </a:defRPr>
                      </a:pPr>
                      <a:r>
                        <a:t>0.0215</a:t>
                      </a:r>
                    </a:p>
                  </a:txBody>
                  <a:tcPr marL="45720" marR="45720" anchor="t"/>
                </a:tc>
              </a:tr>
            </a:tbl>
          </a:graphicData>
        </a:graphic>
      </p:graphicFrame>
      <p:sp>
        <p:nvSpPr>
          <p:cNvPr id="5" name="Rounded Rectangle 4"/>
          <p:cNvSpPr/>
          <p:nvPr/>
        </p:nvSpPr>
        <p:spPr>
          <a:xfrm>
            <a:off x="822960" y="3291840"/>
            <a:ext cx="10607040" cy="1920240"/>
          </a:xfrm>
          <a:prstGeom prst="roundRect">
            <a:avLst/>
          </a:prstGeom>
          <a:solidFill>
            <a:srgbClr val="FFFFFF"/>
          </a:solidFill>
          <a:ln>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lIns="164592" rIns="137160" tIns="109728"/>
          <a:lstStyle/>
          <a:p>
            <a:pPr algn="ctr">
              <a:defRPr sz="1500" b="1">
                <a:solidFill>
                  <a:srgbClr val="2463EB"/>
                </a:solidFill>
              </a:defRPr>
            </a:pPr>
            <a:r>
              <a:t>Interpretation</a:t>
            </a:r>
          </a:p>
          <a:p>
            <a:pPr>
              <a:defRPr sz="1200">
                <a:solidFill>
                  <a:srgbClr val="1F252D"/>
                </a:solidFill>
              </a:defRPr>
            </a:pPr>
            <a:r>
              <a:t>Success cases retain wider action-conditioned rollout geometry.</a:t>
            </a:r>
          </a:p>
          <a:p>
            <a:pPr>
              <a:defRPr sz="1200">
                <a:solidFill>
                  <a:srgbClr val="1F252D"/>
                </a:solidFill>
              </a:defRPr>
            </a:pPr>
            <a:r>
              <a:t>Failure cases, including both misrank and no-hit, have much tighter candidate trajectories.</a:t>
            </a:r>
          </a:p>
          <a:p>
            <a:pPr>
              <a:defRPr sz="1200">
                <a:solidFill>
                  <a:srgbClr val="1F252D"/>
                </a:solidFill>
              </a:defRPr>
            </a:pPr>
            <a:r>
              <a:t>This supports the planning-activation view: not just final success, but candidate behavior during CEM differs.</a:t>
            </a:r>
          </a:p>
        </p:txBody>
      </p:sp>
      <p:sp>
        <p:nvSpPr>
          <p:cNvPr id="6" name="TextBox 5"/>
          <p:cNvSpPr txBox="1"/>
          <p:nvPr/>
        </p:nvSpPr>
        <p:spPr>
          <a:xfrm>
            <a:off x="502920" y="6446520"/>
            <a:ext cx="11155680" cy="228600"/>
          </a:xfrm>
          <a:prstGeom prst="rect">
            <a:avLst/>
          </a:prstGeom>
          <a:noFill/>
        </p:spPr>
        <p:txBody>
          <a:bodyPr wrap="none">
            <a:spAutoFit/>
          </a:bodyPr>
          <a:lstStyle/>
          <a:p>
            <a:pPr>
              <a:defRPr sz="900">
                <a:solidFill>
                  <a:srgbClr val="5C6773"/>
                </a:solidFill>
              </a:defRPr>
            </a:pPr>
            <a:r>
              <a:t>MoDA / LeWM planning diagnostics | 2026-05-08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502920"/>
          </a:xfrm>
          <a:prstGeom prst="rect">
            <a:avLst/>
          </a:prstGeom>
          <a:noFill/>
        </p:spPr>
        <p:txBody>
          <a:bodyPr wrap="none">
            <a:spAutoFit/>
          </a:bodyPr>
          <a:lstStyle/>
          <a:p>
            <a:pPr>
              <a:defRPr sz="2600" b="1">
                <a:solidFill>
                  <a:srgbClr val="1F252D"/>
                </a:solidFill>
              </a:defRPr>
            </a:pPr>
            <a:r>
              <a:t>Cost mismatch: some bad candidates look too good to the world model</a:t>
            </a:r>
          </a:p>
        </p:txBody>
      </p:sp>
      <p:graphicFrame>
        <p:nvGraphicFramePr>
          <p:cNvPr id="3" name="Table 2"/>
          <p:cNvGraphicFramePr>
            <a:graphicFrameLocks noGrp="1"/>
          </p:cNvGraphicFramePr>
          <p:nvPr/>
        </p:nvGraphicFramePr>
        <p:xfrm>
          <a:off x="731520" y="1325880"/>
          <a:ext cx="10424160" cy="1554480"/>
        </p:xfrm>
        <a:graphic>
          <a:graphicData uri="http://schemas.openxmlformats.org/drawingml/2006/table">
            <a:tbl>
              <a:tblPr firstRow="1" bandRow="1">
                <a:tableStyleId>{5C22544A-7EE6-4342-B048-85BDC9FD1C3A}</a:tableStyleId>
              </a:tblPr>
              <a:tblGrid>
                <a:gridCol w="2377440"/>
                <a:gridCol w="2743200"/>
                <a:gridCol w="5303520"/>
              </a:tblGrid>
              <a:tr h="388620">
                <a:tc>
                  <a:txBody>
                    <a:bodyPr/>
                    <a:lstStyle/>
                    <a:p>
                      <a:pPr>
                        <a:defRPr sz="1200" b="1">
                          <a:solidFill>
                            <a:srgbClr val="1F252D"/>
                          </a:solidFill>
                        </a:defRPr>
                      </a:pPr>
                      <a:r>
                        <a:t>Class</a:t>
                      </a:r>
                    </a:p>
                  </a:txBody>
                  <a:tcPr marL="45720" marR="45720" anchor="t">
                    <a:solidFill>
                      <a:srgbClr val="F3F6FA"/>
                    </a:solidFill>
                  </a:tcPr>
                </a:tc>
                <a:tc>
                  <a:txBody>
                    <a:bodyPr/>
                    <a:lstStyle/>
                    <a:p>
                      <a:pPr>
                        <a:defRPr sz="1200" b="1">
                          <a:solidFill>
                            <a:srgbClr val="1F252D"/>
                          </a:solidFill>
                        </a:defRPr>
                      </a:pPr>
                      <a:r>
                        <a:t>final top1 predicted cost</a:t>
                      </a:r>
                    </a:p>
                  </a:txBody>
                  <a:tcPr marL="45720" marR="45720" anchor="t">
                    <a:solidFill>
                      <a:srgbClr val="F3F6FA"/>
                    </a:solidFill>
                  </a:tcPr>
                </a:tc>
                <a:tc>
                  <a:txBody>
                    <a:bodyPr/>
                    <a:lstStyle/>
                    <a:p>
                      <a:pPr>
                        <a:defRPr sz="1200" b="1">
                          <a:solidFill>
                            <a:srgbClr val="1F252D"/>
                          </a:solidFill>
                        </a:defRPr>
                      </a:pPr>
                      <a:r>
                        <a:t>meaning</a:t>
                      </a:r>
                    </a:p>
                  </a:txBody>
                  <a:tcPr marL="45720" marR="45720" anchor="t">
                    <a:solidFill>
                      <a:srgbClr val="F3F6FA"/>
                    </a:solidFill>
                  </a:tcPr>
                </a:tc>
              </a:tr>
              <a:tr h="388620">
                <a:tc>
                  <a:txBody>
                    <a:bodyPr/>
                    <a:lstStyle/>
                    <a:p>
                      <a:pPr>
                        <a:defRPr sz="1200">
                          <a:solidFill>
                            <a:srgbClr val="1F252D"/>
                          </a:solidFill>
                        </a:defRPr>
                      </a:pPr>
                      <a:r>
                        <a:t>selected success</a:t>
                      </a:r>
                    </a:p>
                  </a:txBody>
                  <a:tcPr marL="45720" marR="45720" anchor="t"/>
                </a:tc>
                <a:tc>
                  <a:txBody>
                    <a:bodyPr/>
                    <a:lstStyle/>
                    <a:p>
                      <a:pPr>
                        <a:defRPr sz="1200">
                          <a:solidFill>
                            <a:srgbClr val="1F252D"/>
                          </a:solidFill>
                        </a:defRPr>
                      </a:pPr>
                      <a:r>
                        <a:t>1.600</a:t>
                      </a:r>
                    </a:p>
                  </a:txBody>
                  <a:tcPr marL="45720" marR="45720" anchor="t"/>
                </a:tc>
                <a:tc>
                  <a:txBody>
                    <a:bodyPr/>
                    <a:lstStyle/>
                    <a:p>
                      <a:pPr>
                        <a:defRPr sz="1200">
                          <a:solidFill>
                            <a:srgbClr val="1F252D"/>
                          </a:solidFill>
                        </a:defRPr>
                      </a:pPr>
                      <a:r>
                        <a:t>low cost and real success</a:t>
                      </a:r>
                    </a:p>
                  </a:txBody>
                  <a:tcPr marL="45720" marR="45720" anchor="t"/>
                </a:tc>
              </a:tr>
              <a:tr h="388620">
                <a:tc>
                  <a:txBody>
                    <a:bodyPr/>
                    <a:lstStyle/>
                    <a:p>
                      <a:pPr>
                        <a:defRPr sz="1200">
                          <a:solidFill>
                            <a:srgbClr val="1F252D"/>
                          </a:solidFill>
                        </a:defRPr>
                      </a:pPr>
                      <a:r>
                        <a:t>misrank</a:t>
                      </a:r>
                    </a:p>
                  </a:txBody>
                  <a:tcPr marL="45720" marR="45720" anchor="t"/>
                </a:tc>
                <a:tc>
                  <a:txBody>
                    <a:bodyPr/>
                    <a:lstStyle/>
                    <a:p>
                      <a:pPr>
                        <a:defRPr sz="1200">
                          <a:solidFill>
                            <a:srgbClr val="1F252D"/>
                          </a:solidFill>
                        </a:defRPr>
                      </a:pPr>
                      <a:r>
                        <a:t>1.095</a:t>
                      </a:r>
                    </a:p>
                  </a:txBody>
                  <a:tcPr marL="45720" marR="45720" anchor="t"/>
                </a:tc>
                <a:tc>
                  <a:txBody>
                    <a:bodyPr/>
                    <a:lstStyle/>
                    <a:p>
                      <a:pPr>
                        <a:defRPr sz="1200">
                          <a:solidFill>
                            <a:srgbClr val="1F252D"/>
                          </a:solidFill>
                        </a:defRPr>
                      </a:pPr>
                      <a:r>
                        <a:t>even lower predicted cost, but real top1 fails</a:t>
                      </a:r>
                    </a:p>
                  </a:txBody>
                  <a:tcPr marL="45720" marR="45720" anchor="t"/>
                </a:tc>
              </a:tr>
              <a:tr h="388620">
                <a:tc>
                  <a:txBody>
                    <a:bodyPr/>
                    <a:lstStyle/>
                    <a:p>
                      <a:pPr>
                        <a:defRPr sz="1200">
                          <a:solidFill>
                            <a:srgbClr val="1F252D"/>
                          </a:solidFill>
                        </a:defRPr>
                      </a:pPr>
                      <a:r>
                        <a:t>no-hit</a:t>
                      </a:r>
                    </a:p>
                  </a:txBody>
                  <a:tcPr marL="45720" marR="45720" anchor="t"/>
                </a:tc>
                <a:tc>
                  <a:txBody>
                    <a:bodyPr/>
                    <a:lstStyle/>
                    <a:p>
                      <a:pPr>
                        <a:defRPr sz="1200">
                          <a:solidFill>
                            <a:srgbClr val="1F252D"/>
                          </a:solidFill>
                        </a:defRPr>
                      </a:pPr>
                      <a:r>
                        <a:t>1.620</a:t>
                      </a:r>
                    </a:p>
                  </a:txBody>
                  <a:tcPr marL="45720" marR="45720" anchor="t"/>
                </a:tc>
                <a:tc>
                  <a:txBody>
                    <a:bodyPr/>
                    <a:lstStyle/>
                    <a:p>
                      <a:pPr>
                        <a:defRPr sz="1200">
                          <a:solidFill>
                            <a:srgbClr val="1F252D"/>
                          </a:solidFill>
                        </a:defRPr>
                      </a:pPr>
                      <a:r>
                        <a:t>no successful candidate in top-k</a:t>
                      </a:r>
                    </a:p>
                  </a:txBody>
                  <a:tcPr marL="45720" marR="45720" anchor="t"/>
                </a:tc>
              </a:tr>
            </a:tbl>
          </a:graphicData>
        </a:graphic>
      </p:graphicFrame>
      <p:sp>
        <p:nvSpPr>
          <p:cNvPr id="4" name="Rounded Rectangle 3"/>
          <p:cNvSpPr/>
          <p:nvPr/>
        </p:nvSpPr>
        <p:spPr>
          <a:xfrm>
            <a:off x="822960" y="3383280"/>
            <a:ext cx="10515600" cy="1737360"/>
          </a:xfrm>
          <a:prstGeom prst="roundRect">
            <a:avLst/>
          </a:prstGeom>
          <a:solidFill>
            <a:srgbClr val="FFFFFF"/>
          </a:solidFill>
          <a:ln>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lIns="164592" rIns="137160" tIns="109728"/>
          <a:lstStyle/>
          <a:p>
            <a:pPr algn="ctr">
              <a:defRPr sz="1500" b="1">
                <a:solidFill>
                  <a:srgbClr val="EA580C"/>
                </a:solidFill>
              </a:defRPr>
            </a:pPr>
            <a:r>
              <a:t>Why this matters</a:t>
            </a:r>
          </a:p>
          <a:p>
            <a:pPr>
              <a:defRPr sz="1200">
                <a:solidFill>
                  <a:srgbClr val="1F252D"/>
                </a:solidFill>
              </a:defRPr>
            </a:pPr>
            <a:r>
              <a:t>The model can assign very low cost to a trajectory that fails in the real environment.</a:t>
            </a:r>
          </a:p>
          <a:p>
            <a:pPr>
              <a:defRPr sz="1200">
                <a:solidFill>
                  <a:srgbClr val="1F252D"/>
                </a:solidFill>
              </a:defRPr>
            </a:pPr>
            <a:r>
              <a:t>So failure is not only insufficient sampling; there is also rollout/cost mismatch.</a:t>
            </a:r>
          </a:p>
        </p:txBody>
      </p:sp>
      <p:sp>
        <p:nvSpPr>
          <p:cNvPr id="5" name="TextBox 4"/>
          <p:cNvSpPr txBox="1"/>
          <p:nvPr/>
        </p:nvSpPr>
        <p:spPr>
          <a:xfrm>
            <a:off x="502920" y="6446520"/>
            <a:ext cx="11155680" cy="228600"/>
          </a:xfrm>
          <a:prstGeom prst="rect">
            <a:avLst/>
          </a:prstGeom>
          <a:noFill/>
        </p:spPr>
        <p:txBody>
          <a:bodyPr wrap="none">
            <a:spAutoFit/>
          </a:bodyPr>
          <a:lstStyle/>
          <a:p>
            <a:pPr>
              <a:defRPr sz="900">
                <a:solidFill>
                  <a:srgbClr val="5C6773"/>
                </a:solidFill>
              </a:defRPr>
            </a:pPr>
            <a:r>
              <a:t>MoDA / LeWM planning diagnostics | 2026-05-08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502920"/>
          </a:xfrm>
          <a:prstGeom prst="rect">
            <a:avLst/>
          </a:prstGeom>
          <a:noFill/>
        </p:spPr>
        <p:txBody>
          <a:bodyPr wrap="none">
            <a:spAutoFit/>
          </a:bodyPr>
          <a:lstStyle/>
          <a:p>
            <a:pPr>
              <a:defRPr sz="2600" b="1">
                <a:solidFill>
                  <a:srgbClr val="1F252D"/>
                </a:solidFill>
              </a:defRPr>
            </a:pPr>
            <a:r>
              <a:t>Quick method trials: what did not work enough</a:t>
            </a:r>
          </a:p>
        </p:txBody>
      </p:sp>
      <p:graphicFrame>
        <p:nvGraphicFramePr>
          <p:cNvPr id="3" name="Table 2"/>
          <p:cNvGraphicFramePr>
            <a:graphicFrameLocks noGrp="1"/>
          </p:cNvGraphicFramePr>
          <p:nvPr/>
        </p:nvGraphicFramePr>
        <p:xfrm>
          <a:off x="502920" y="1051560"/>
          <a:ext cx="10972800" cy="2743200"/>
        </p:xfrm>
        <a:graphic>
          <a:graphicData uri="http://schemas.openxmlformats.org/drawingml/2006/table">
            <a:tbl>
              <a:tblPr firstRow="1" bandRow="1">
                <a:tableStyleId>{5C22544A-7EE6-4342-B048-85BDC9FD1C3A}</a:tableStyleId>
              </a:tblPr>
              <a:tblGrid>
                <a:gridCol w="2286000"/>
                <a:gridCol w="3474720"/>
                <a:gridCol w="5212080"/>
              </a:tblGrid>
              <a:tr h="457200">
                <a:tc>
                  <a:txBody>
                    <a:bodyPr/>
                    <a:lstStyle/>
                    <a:p>
                      <a:pPr>
                        <a:defRPr sz="1000" b="1">
                          <a:solidFill>
                            <a:srgbClr val="1F252D"/>
                          </a:solidFill>
                        </a:defRPr>
                      </a:pPr>
                      <a:r>
                        <a:t>Trial</a:t>
                      </a:r>
                    </a:p>
                  </a:txBody>
                  <a:tcPr marL="45720" marR="45720" anchor="t">
                    <a:solidFill>
                      <a:srgbClr val="F3F6FA"/>
                    </a:solidFill>
                  </a:tcPr>
                </a:tc>
                <a:tc>
                  <a:txBody>
                    <a:bodyPr/>
                    <a:lstStyle/>
                    <a:p>
                      <a:pPr>
                        <a:defRPr sz="1000" b="1">
                          <a:solidFill>
                            <a:srgbClr val="1F252D"/>
                          </a:solidFill>
                        </a:defRPr>
                      </a:pPr>
                      <a:r>
                        <a:t>Result</a:t>
                      </a:r>
                    </a:p>
                  </a:txBody>
                  <a:tcPr marL="45720" marR="45720" anchor="t">
                    <a:solidFill>
                      <a:srgbClr val="F3F6FA"/>
                    </a:solidFill>
                  </a:tcPr>
                </a:tc>
                <a:tc>
                  <a:txBody>
                    <a:bodyPr/>
                    <a:lstStyle/>
                    <a:p>
                      <a:pPr>
                        <a:defRPr sz="1000" b="1">
                          <a:solidFill>
                            <a:srgbClr val="1F252D"/>
                          </a:solidFill>
                        </a:defRPr>
                      </a:pPr>
                      <a:r>
                        <a:t>Conclusion</a:t>
                      </a:r>
                    </a:p>
                  </a:txBody>
                  <a:tcPr marL="45720" marR="45720" anchor="t">
                    <a:solidFill>
                      <a:srgbClr val="F3F6FA"/>
                    </a:solidFill>
                  </a:tcPr>
                </a:tc>
              </a:tr>
              <a:tr h="457200">
                <a:tc>
                  <a:txBody>
                    <a:bodyPr/>
                    <a:lstStyle/>
                    <a:p>
                      <a:pPr>
                        <a:defRPr sz="1000">
                          <a:solidFill>
                            <a:srgbClr val="1F252D"/>
                          </a:solidFill>
                        </a:defRPr>
                      </a:pPr>
                      <a:r>
                        <a:t>restart3 CEM</a:t>
                      </a:r>
                    </a:p>
                  </a:txBody>
                  <a:tcPr marL="45720" marR="45720" anchor="t"/>
                </a:tc>
                <a:tc>
                  <a:txBody>
                    <a:bodyPr/>
                    <a:lstStyle/>
                    <a:p>
                      <a:pPr>
                        <a:defRPr sz="1000">
                          <a:solidFill>
                            <a:srgbClr val="1F252D"/>
                          </a:solidFill>
                        </a:defRPr>
                      </a:pPr>
                      <a:r>
                        <a:t>top1 50% -&gt; 55%; oracle 65% unchanged</a:t>
                      </a:r>
                    </a:p>
                  </a:txBody>
                  <a:tcPr marL="45720" marR="45720" anchor="t"/>
                </a:tc>
                <a:tc>
                  <a:txBody>
                    <a:bodyPr/>
                    <a:lstStyle/>
                    <a:p>
                      <a:pPr>
                        <a:defRPr sz="1000">
                          <a:solidFill>
                            <a:srgbClr val="1F252D"/>
                          </a:solidFill>
                        </a:defRPr>
                      </a:pPr>
                      <a:r>
                        <a:t>slight gain, not enough</a:t>
                      </a:r>
                    </a:p>
                  </a:txBody>
                  <a:tcPr marL="45720" marR="45720" anchor="t"/>
                </a:tc>
              </a:tr>
              <a:tr h="457200">
                <a:tc>
                  <a:txBody>
                    <a:bodyPr/>
                    <a:lstStyle/>
                    <a:p>
                      <a:pPr>
                        <a:defRPr sz="1000">
                          <a:solidFill>
                            <a:srgbClr val="1F252D"/>
                          </a:solidFill>
                        </a:defRPr>
                      </a:pPr>
                      <a:r>
                        <a:t>horizon=10, block=5</a:t>
                      </a:r>
                    </a:p>
                  </a:txBody>
                  <a:tcPr marL="45720" marR="45720" anchor="t"/>
                </a:tc>
                <a:tc>
                  <a:txBody>
                    <a:bodyPr/>
                    <a:lstStyle/>
                    <a:p>
                      <a:pPr>
                        <a:defRPr sz="1000">
                          <a:solidFill>
                            <a:srgbClr val="1F252D"/>
                          </a:solidFill>
                        </a:defRPr>
                      </a:pPr>
                      <a:r>
                        <a:t>success 10%</a:t>
                      </a:r>
                    </a:p>
                  </a:txBody>
                  <a:tcPr marL="45720" marR="45720" anchor="t"/>
                </a:tc>
                <a:tc>
                  <a:txBody>
                    <a:bodyPr/>
                    <a:lstStyle/>
                    <a:p>
                      <a:pPr>
                        <a:defRPr sz="1000">
                          <a:solidFill>
                            <a:srgbClr val="1F252D"/>
                          </a:solidFill>
                        </a:defRPr>
                      </a:pPr>
                      <a:r>
                        <a:t>long rollout amplifies error</a:t>
                      </a:r>
                    </a:p>
                  </a:txBody>
                  <a:tcPr marL="45720" marR="45720" anchor="t"/>
                </a:tc>
              </a:tr>
              <a:tr h="457200">
                <a:tc>
                  <a:txBody>
                    <a:bodyPr/>
                    <a:lstStyle/>
                    <a:p>
                      <a:pPr>
                        <a:defRPr sz="1000">
                          <a:solidFill>
                            <a:srgbClr val="1F252D"/>
                          </a:solidFill>
                        </a:defRPr>
                      </a:pPr>
                      <a:r>
                        <a:t>block=10</a:t>
                      </a:r>
                    </a:p>
                  </a:txBody>
                  <a:tcPr marL="45720" marR="45720" anchor="t"/>
                </a:tc>
                <a:tc>
                  <a:txBody>
                    <a:bodyPr/>
                    <a:lstStyle/>
                    <a:p>
                      <a:pPr>
                        <a:defRPr sz="1000">
                          <a:solidFill>
                            <a:srgbClr val="1F252D"/>
                          </a:solidFill>
                        </a:defRPr>
                      </a:pPr>
                      <a:r>
                        <a:t>action encoder shape mismatch</a:t>
                      </a:r>
                    </a:p>
                  </a:txBody>
                  <a:tcPr marL="45720" marR="45720" anchor="t"/>
                </a:tc>
                <a:tc>
                  <a:txBody>
                    <a:bodyPr/>
                    <a:lstStyle/>
                    <a:p>
                      <a:pPr>
                        <a:defRPr sz="1000">
                          <a:solidFill>
                            <a:srgbClr val="1F252D"/>
                          </a:solidFill>
                        </a:defRPr>
                      </a:pPr>
                      <a:r>
                        <a:t>cannot change without retraining</a:t>
                      </a:r>
                    </a:p>
                  </a:txBody>
                  <a:tcPr marL="45720" marR="45720" anchor="t"/>
                </a:tc>
              </a:tr>
              <a:tr h="457200">
                <a:tc>
                  <a:txBody>
                    <a:bodyPr/>
                    <a:lstStyle/>
                    <a:p>
                      <a:pPr>
                        <a:defRPr sz="1000">
                          <a:solidFill>
                            <a:srgbClr val="1F252D"/>
                          </a:solidFill>
                        </a:defRPr>
                      </a:pPr>
                      <a:r>
                        <a:t>consistency rerank</a:t>
                      </a:r>
                    </a:p>
                  </a:txBody>
                  <a:tcPr marL="45720" marR="45720" anchor="t"/>
                </a:tc>
                <a:tc>
                  <a:txBody>
                    <a:bodyPr/>
                    <a:lstStyle/>
                    <a:p>
                      <a:pPr>
                        <a:defRPr sz="1000">
                          <a:solidFill>
                            <a:srgbClr val="1F252D"/>
                          </a:solidFill>
                        </a:defRPr>
                      </a:pPr>
                      <a:r>
                        <a:t>baseline 70%, rerank 50-60%</a:t>
                      </a:r>
                    </a:p>
                  </a:txBody>
                  <a:tcPr marL="45720" marR="45720" anchor="t"/>
                </a:tc>
                <a:tc>
                  <a:txBody>
                    <a:bodyPr/>
                    <a:lstStyle/>
                    <a:p>
                      <a:pPr>
                        <a:defRPr sz="1000">
                          <a:solidFill>
                            <a:srgbClr val="1F252D"/>
                          </a:solidFill>
                        </a:defRPr>
                      </a:pPr>
                      <a:r>
                        <a:t>simple stability penalty hurts</a:t>
                      </a:r>
                    </a:p>
                  </a:txBody>
                  <a:tcPr marL="45720" marR="45720" anchor="t"/>
                </a:tc>
              </a:tr>
              <a:tr h="457200">
                <a:tc>
                  <a:txBody>
                    <a:bodyPr/>
                    <a:lstStyle/>
                    <a:p>
                      <a:pPr>
                        <a:defRPr sz="1000">
                          <a:solidFill>
                            <a:srgbClr val="1F252D"/>
                          </a:solidFill>
                        </a:defRPr>
                      </a:pPr>
                      <a:r>
                        <a:t>subspace/spread/ranking micro</a:t>
                      </a:r>
                    </a:p>
                  </a:txBody>
                  <a:tcPr marL="45720" marR="45720" anchor="t"/>
                </a:tc>
                <a:tc>
                  <a:txBody>
                    <a:bodyPr/>
                    <a:lstStyle/>
                    <a:p>
                      <a:pPr>
                        <a:defRPr sz="1000">
                          <a:solidFill>
                            <a:srgbClr val="1F252D"/>
                          </a:solidFill>
                        </a:defRPr>
                      </a:pPr>
                      <a:r>
                        <a:t>proxy changes, no stable planning gain</a:t>
                      </a:r>
                    </a:p>
                  </a:txBody>
                  <a:tcPr marL="45720" marR="45720" anchor="t"/>
                </a:tc>
                <a:tc>
                  <a:txBody>
                    <a:bodyPr/>
                    <a:lstStyle/>
                    <a:p>
                      <a:pPr>
                        <a:defRPr sz="1000">
                          <a:solidFill>
                            <a:srgbClr val="1F252D"/>
                          </a:solidFill>
                        </a:defRPr>
                      </a:pPr>
                      <a:r>
                        <a:t>local losses are insufficient</a:t>
                      </a:r>
                    </a:p>
                  </a:txBody>
                  <a:tcPr marL="45720" marR="45720" anchor="t"/>
                </a:tc>
              </a:tr>
            </a:tbl>
          </a:graphicData>
        </a:graphic>
      </p:graphicFrame>
      <p:sp>
        <p:nvSpPr>
          <p:cNvPr id="4" name="Rounded Rectangle 3"/>
          <p:cNvSpPr/>
          <p:nvPr/>
        </p:nvSpPr>
        <p:spPr>
          <a:xfrm>
            <a:off x="914400" y="4251960"/>
            <a:ext cx="10241280" cy="1234440"/>
          </a:xfrm>
          <a:prstGeom prst="roundRect">
            <a:avLst/>
          </a:prstGeom>
          <a:solidFill>
            <a:srgbClr val="FFFFFF"/>
          </a:solidFill>
          <a:ln>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lIns="164592" rIns="137160" tIns="109728"/>
          <a:lstStyle/>
          <a:p>
            <a:pPr algn="ctr">
              <a:defRPr sz="1500" b="1">
                <a:solidFill>
                  <a:srgbClr val="DC2626"/>
                </a:solidFill>
              </a:defRPr>
            </a:pPr>
            <a:r>
              <a:t>Current negative result is useful</a:t>
            </a:r>
          </a:p>
          <a:p>
            <a:pPr>
              <a:defRPr sz="1200">
                <a:solidFill>
                  <a:srgbClr val="1F252D"/>
                </a:solidFill>
              </a:defRPr>
            </a:pPr>
            <a:r>
              <a:t>The main method should not be another isolated spread/ranking/subspace objective.</a:t>
            </a:r>
          </a:p>
          <a:p>
            <a:pPr>
              <a:defRPr sz="1200">
                <a:solidFill>
                  <a:srgbClr val="1F252D"/>
                </a:solidFill>
              </a:defRPr>
            </a:pPr>
            <a:r>
              <a:t>The evidence points to planning-level calibration: candidate generation plus rollout/cost reliability.</a:t>
            </a:r>
          </a:p>
        </p:txBody>
      </p:sp>
      <p:sp>
        <p:nvSpPr>
          <p:cNvPr id="5" name="TextBox 4"/>
          <p:cNvSpPr txBox="1"/>
          <p:nvPr/>
        </p:nvSpPr>
        <p:spPr>
          <a:xfrm>
            <a:off x="502920" y="6446520"/>
            <a:ext cx="11155680" cy="228600"/>
          </a:xfrm>
          <a:prstGeom prst="rect">
            <a:avLst/>
          </a:prstGeom>
          <a:noFill/>
        </p:spPr>
        <p:txBody>
          <a:bodyPr wrap="none">
            <a:spAutoFit/>
          </a:bodyPr>
          <a:lstStyle/>
          <a:p>
            <a:pPr>
              <a:defRPr sz="900">
                <a:solidFill>
                  <a:srgbClr val="5C6773"/>
                </a:solidFill>
              </a:defRPr>
            </a:pPr>
            <a:r>
              <a:t>MoDA / LeWM planning diagnostics | 2026-05-08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502920"/>
          </a:xfrm>
          <a:prstGeom prst="rect">
            <a:avLst/>
          </a:prstGeom>
          <a:noFill/>
        </p:spPr>
        <p:txBody>
          <a:bodyPr wrap="none">
            <a:spAutoFit/>
          </a:bodyPr>
          <a:lstStyle/>
          <a:p>
            <a:pPr>
              <a:defRPr sz="2600" b="1">
                <a:solidFill>
                  <a:srgbClr val="1F252D"/>
                </a:solidFill>
              </a:defRPr>
            </a:pPr>
            <a:r>
              <a:t>What this is, and what it is not</a:t>
            </a:r>
          </a:p>
        </p:txBody>
      </p:sp>
      <p:sp>
        <p:nvSpPr>
          <p:cNvPr id="3" name="Rounded Rectangle 2"/>
          <p:cNvSpPr/>
          <p:nvPr/>
        </p:nvSpPr>
        <p:spPr>
          <a:xfrm>
            <a:off x="731520" y="1143000"/>
            <a:ext cx="5120640" cy="4023360"/>
          </a:xfrm>
          <a:prstGeom prst="roundRect">
            <a:avLst/>
          </a:prstGeom>
          <a:solidFill>
            <a:srgbClr val="FFFFFF"/>
          </a:solidFill>
          <a:ln>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lIns="164592" rIns="137160" tIns="109728"/>
          <a:lstStyle/>
          <a:p>
            <a:pPr algn="ctr">
              <a:defRPr sz="1500" b="1">
                <a:solidFill>
                  <a:srgbClr val="DC2626"/>
                </a:solidFill>
              </a:defRPr>
            </a:pPr>
            <a:r>
              <a:t>Not claiming</a:t>
            </a:r>
          </a:p>
          <a:p>
            <a:pPr>
              <a:defRPr sz="1200">
                <a:solidFill>
                  <a:srgbClr val="1F252D"/>
                </a:solidFill>
              </a:defRPr>
            </a:pPr>
            <a:r>
              <a:t>LeWM or CEM is wrong.</a:t>
            </a:r>
          </a:p>
          <a:p>
            <a:pPr>
              <a:defRPr sz="1200">
                <a:solidFill>
                  <a:srgbClr val="1F252D"/>
                </a:solidFill>
              </a:defRPr>
            </a:pPr>
            <a:r>
              <a:t>We discovered a brand-new MBRL problem.</a:t>
            </a:r>
          </a:p>
          <a:p>
            <a:pPr>
              <a:defRPr sz="1200">
                <a:solidFill>
                  <a:srgbClr val="1F252D"/>
                </a:solidFill>
              </a:defRPr>
            </a:pPr>
            <a:r>
              <a:t>Subspace is useless in general.</a:t>
            </a:r>
          </a:p>
          <a:p>
            <a:pPr>
              <a:defRPr sz="1200">
                <a:solidFill>
                  <a:srgbClr val="1F252D"/>
                </a:solidFill>
              </a:defRPr>
            </a:pPr>
            <a:r>
              <a:t>A reranker can solve all failures.</a:t>
            </a:r>
          </a:p>
        </p:txBody>
      </p:sp>
      <p:sp>
        <p:nvSpPr>
          <p:cNvPr id="4" name="Rounded Rectangle 3"/>
          <p:cNvSpPr/>
          <p:nvPr/>
        </p:nvSpPr>
        <p:spPr>
          <a:xfrm>
            <a:off x="6309360" y="1143000"/>
            <a:ext cx="5120640" cy="4023360"/>
          </a:xfrm>
          <a:prstGeom prst="roundRect">
            <a:avLst/>
          </a:prstGeom>
          <a:solidFill>
            <a:srgbClr val="FFFFFF"/>
          </a:solidFill>
          <a:ln>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lIns="164592" rIns="137160" tIns="109728"/>
          <a:lstStyle/>
          <a:p>
            <a:pPr algn="ctr">
              <a:defRPr sz="1500" b="1">
                <a:solidFill>
                  <a:srgbClr val="16A34A"/>
                </a:solidFill>
              </a:defRPr>
            </a:pPr>
            <a:r>
              <a:t>Claiming</a:t>
            </a:r>
          </a:p>
          <a:p>
            <a:pPr>
              <a:defRPr sz="1200">
                <a:solidFill>
                  <a:srgbClr val="1F252D"/>
                </a:solidFill>
              </a:defRPr>
            </a:pPr>
            <a:r>
              <a:t>In MoDA/gate07, prediction-friendly latent does not ensure planning-friendly behavior.</a:t>
            </a:r>
          </a:p>
          <a:p>
            <a:pPr>
              <a:defRPr sz="1200">
                <a:solidFill>
                  <a:srgbClr val="1F252D"/>
                </a:solidFill>
              </a:defRPr>
            </a:pPr>
            <a:r>
              <a:t>Failure splits into no-hit candidate generation and cost mismatch.</a:t>
            </a:r>
          </a:p>
          <a:p>
            <a:pPr>
              <a:defRPr sz="1200">
                <a:solidFill>
                  <a:srgbClr val="1F252D"/>
                </a:solidFill>
              </a:defRPr>
            </a:pPr>
            <a:r>
              <a:t>Top-k oracle + CEM trace gives a concrete diagnosis.</a:t>
            </a:r>
          </a:p>
          <a:p>
            <a:pPr>
              <a:defRPr sz="1200">
                <a:solidFill>
                  <a:srgbClr val="1F252D"/>
                </a:solidFill>
              </a:defRPr>
            </a:pPr>
            <a:r>
              <a:t>Next method must target planning-level rollout/candidate calibration.</a:t>
            </a:r>
          </a:p>
        </p:txBody>
      </p:sp>
      <p:sp>
        <p:nvSpPr>
          <p:cNvPr id="5" name="TextBox 4"/>
          <p:cNvSpPr txBox="1"/>
          <p:nvPr/>
        </p:nvSpPr>
        <p:spPr>
          <a:xfrm>
            <a:off x="502920" y="6446520"/>
            <a:ext cx="11155680" cy="228600"/>
          </a:xfrm>
          <a:prstGeom prst="rect">
            <a:avLst/>
          </a:prstGeom>
          <a:noFill/>
        </p:spPr>
        <p:txBody>
          <a:bodyPr wrap="none">
            <a:spAutoFit/>
          </a:bodyPr>
          <a:lstStyle/>
          <a:p>
            <a:pPr>
              <a:defRPr sz="900">
                <a:solidFill>
                  <a:srgbClr val="5C6773"/>
                </a:solidFill>
              </a:defRPr>
            </a:pPr>
            <a:r>
              <a:t>MoDA / LeWM planning diagnostics | 2026-05-08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502920"/>
          </a:xfrm>
          <a:prstGeom prst="rect">
            <a:avLst/>
          </a:prstGeom>
          <a:noFill/>
        </p:spPr>
        <p:txBody>
          <a:bodyPr wrap="none">
            <a:spAutoFit/>
          </a:bodyPr>
          <a:lstStyle/>
          <a:p>
            <a:pPr>
              <a:defRPr sz="2600" b="1">
                <a:solidFill>
                  <a:srgbClr val="1F252D"/>
                </a:solidFill>
              </a:defRPr>
            </a:pPr>
            <a:r>
              <a:t>Proposed direction: Planning-calibrated MoDA</a:t>
            </a:r>
          </a:p>
        </p:txBody>
      </p:sp>
      <p:sp>
        <p:nvSpPr>
          <p:cNvPr id="3" name="Rounded Rectangle 2"/>
          <p:cNvSpPr/>
          <p:nvPr/>
        </p:nvSpPr>
        <p:spPr>
          <a:xfrm>
            <a:off x="685800" y="1097280"/>
            <a:ext cx="3474720" cy="4389120"/>
          </a:xfrm>
          <a:prstGeom prst="roundRect">
            <a:avLst/>
          </a:prstGeom>
          <a:solidFill>
            <a:srgbClr val="FFFFFF"/>
          </a:solidFill>
          <a:ln>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lIns="164592" rIns="137160" tIns="109728"/>
          <a:lstStyle/>
          <a:p>
            <a:pPr algn="ctr">
              <a:defRPr sz="1500" b="1">
                <a:solidFill>
                  <a:srgbClr val="2463EB"/>
                </a:solidFill>
              </a:defRPr>
            </a:pPr>
            <a:r>
              <a:t>1. Retrieval calibration</a:t>
            </a:r>
          </a:p>
          <a:p>
            <a:pPr>
              <a:defRPr sz="1200">
                <a:solidFill>
                  <a:srgbClr val="1F252D"/>
                </a:solidFill>
              </a:defRPr>
            </a:pPr>
            <a:r>
              <a:t>gate07 remains useful early.</a:t>
            </a:r>
          </a:p>
          <a:p>
            <a:pPr>
              <a:defRPr sz="1200">
                <a:solidFill>
                  <a:srgbClr val="1F252D"/>
                </a:solidFill>
              </a:defRPr>
            </a:pPr>
            <a:r>
              <a:t>Controls retrieval strength.</a:t>
            </a:r>
          </a:p>
          <a:p>
            <a:pPr>
              <a:defRPr sz="1200">
                <a:solidFill>
                  <a:srgbClr val="1F252D"/>
                </a:solidFill>
              </a:defRPr>
            </a:pPr>
            <a:r>
              <a:t>But alone is unstable across epochs.</a:t>
            </a:r>
          </a:p>
        </p:txBody>
      </p:sp>
      <p:sp>
        <p:nvSpPr>
          <p:cNvPr id="4" name="Rounded Rectangle 3"/>
          <p:cNvSpPr/>
          <p:nvPr/>
        </p:nvSpPr>
        <p:spPr>
          <a:xfrm>
            <a:off x="4389120" y="1097280"/>
            <a:ext cx="3474720" cy="4389120"/>
          </a:xfrm>
          <a:prstGeom prst="roundRect">
            <a:avLst/>
          </a:prstGeom>
          <a:solidFill>
            <a:srgbClr val="FFFFFF"/>
          </a:solidFill>
          <a:ln>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lIns="164592" rIns="137160" tIns="109728"/>
          <a:lstStyle/>
          <a:p>
            <a:pPr algn="ctr">
              <a:defRPr sz="1500" b="1">
                <a:solidFill>
                  <a:srgbClr val="EA580C"/>
                </a:solidFill>
              </a:defRPr>
            </a:pPr>
            <a:r>
              <a:t>2. Candidate generation</a:t>
            </a:r>
          </a:p>
          <a:p>
            <a:pPr>
              <a:defRPr sz="1200">
                <a:solidFill>
                  <a:srgbClr val="1F252D"/>
                </a:solidFill>
              </a:defRPr>
            </a:pPr>
            <a:r>
              <a:t>Focus on no-hit cases.</a:t>
            </a:r>
          </a:p>
          <a:p>
            <a:pPr>
              <a:defRPr sz="1200">
                <a:solidFill>
                  <a:srgbClr val="1F252D"/>
                </a:solidFill>
              </a:defRPr>
            </a:pPr>
            <a:r>
              <a:t>Maintain candidate diversity under CEM.</a:t>
            </a:r>
          </a:p>
          <a:p>
            <a:pPr>
              <a:defRPr sz="1200">
                <a:solidFill>
                  <a:srgbClr val="1F252D"/>
                </a:solidFill>
              </a:defRPr>
            </a:pPr>
            <a:r>
              <a:t>Avoid brittle long-horizon rollout.</a:t>
            </a:r>
          </a:p>
        </p:txBody>
      </p:sp>
      <p:sp>
        <p:nvSpPr>
          <p:cNvPr id="5" name="Rounded Rectangle 4"/>
          <p:cNvSpPr/>
          <p:nvPr/>
        </p:nvSpPr>
        <p:spPr>
          <a:xfrm>
            <a:off x="8092440" y="1097280"/>
            <a:ext cx="3474720" cy="4389120"/>
          </a:xfrm>
          <a:prstGeom prst="roundRect">
            <a:avLst/>
          </a:prstGeom>
          <a:solidFill>
            <a:srgbClr val="FFFFFF"/>
          </a:solidFill>
          <a:ln>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lIns="164592" rIns="137160" tIns="109728"/>
          <a:lstStyle/>
          <a:p>
            <a:pPr algn="ctr">
              <a:defRPr sz="1500" b="1">
                <a:solidFill>
                  <a:srgbClr val="16A34A"/>
                </a:solidFill>
              </a:defRPr>
            </a:pPr>
            <a:r>
              <a:t>3. Cost reliability</a:t>
            </a:r>
          </a:p>
          <a:p>
            <a:pPr>
              <a:defRPr sz="1200">
                <a:solidFill>
                  <a:srgbClr val="1F252D"/>
                </a:solidFill>
              </a:defRPr>
            </a:pPr>
            <a:r>
              <a:t>Focus on misrank cases.</a:t>
            </a:r>
          </a:p>
          <a:p>
            <a:pPr>
              <a:defRPr sz="1200">
                <a:solidFill>
                  <a:srgbClr val="1F252D"/>
                </a:solidFill>
              </a:defRPr>
            </a:pPr>
            <a:r>
              <a:t>Detect overly optimistic predicted cost.</a:t>
            </a:r>
          </a:p>
          <a:p>
            <a:pPr>
              <a:defRPr sz="1200">
                <a:solidFill>
                  <a:srgbClr val="1F252D"/>
                </a:solidFill>
              </a:defRPr>
            </a:pPr>
            <a:r>
              <a:t>Reranking only as a secondary patch.</a:t>
            </a:r>
          </a:p>
        </p:txBody>
      </p:sp>
      <p:sp>
        <p:nvSpPr>
          <p:cNvPr id="6" name="TextBox 5"/>
          <p:cNvSpPr txBox="1"/>
          <p:nvPr/>
        </p:nvSpPr>
        <p:spPr>
          <a:xfrm>
            <a:off x="502920" y="6446520"/>
            <a:ext cx="11155680" cy="228600"/>
          </a:xfrm>
          <a:prstGeom prst="rect">
            <a:avLst/>
          </a:prstGeom>
          <a:noFill/>
        </p:spPr>
        <p:txBody>
          <a:bodyPr wrap="none">
            <a:spAutoFit/>
          </a:bodyPr>
          <a:lstStyle/>
          <a:p>
            <a:pPr>
              <a:defRPr sz="900">
                <a:solidFill>
                  <a:srgbClr val="5C6773"/>
                </a:solidFill>
              </a:defRPr>
            </a:pPr>
            <a:r>
              <a:t>MoDA / LeWM planning diagnostics | 2026-05-08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502920"/>
          </a:xfrm>
          <a:prstGeom prst="rect">
            <a:avLst/>
          </a:prstGeom>
          <a:noFill/>
        </p:spPr>
        <p:txBody>
          <a:bodyPr wrap="none">
            <a:spAutoFit/>
          </a:bodyPr>
          <a:lstStyle/>
          <a:p>
            <a:pPr>
              <a:defRPr sz="2600" b="1">
                <a:solidFill>
                  <a:srgbClr val="1F252D"/>
                </a:solidFill>
              </a:defRPr>
            </a:pPr>
            <a:r>
              <a:t>Next experiments before committing to a method</a:t>
            </a:r>
          </a:p>
        </p:txBody>
      </p:sp>
      <p:graphicFrame>
        <p:nvGraphicFramePr>
          <p:cNvPr id="3" name="Table 2"/>
          <p:cNvGraphicFramePr>
            <a:graphicFrameLocks noGrp="1"/>
          </p:cNvGraphicFramePr>
          <p:nvPr/>
        </p:nvGraphicFramePr>
        <p:xfrm>
          <a:off x="594360" y="1143000"/>
          <a:ext cx="10972800" cy="2286000"/>
        </p:xfrm>
        <a:graphic>
          <a:graphicData uri="http://schemas.openxmlformats.org/drawingml/2006/table">
            <a:tbl>
              <a:tblPr firstRow="1" bandRow="1">
                <a:tableStyleId>{5C22544A-7EE6-4342-B048-85BDC9FD1C3A}</a:tableStyleId>
              </a:tblPr>
              <a:tblGrid>
                <a:gridCol w="1005840"/>
                <a:gridCol w="4572000"/>
                <a:gridCol w="5394960"/>
              </a:tblGrid>
              <a:tr h="457200">
                <a:tc>
                  <a:txBody>
                    <a:bodyPr/>
                    <a:lstStyle/>
                    <a:p>
                      <a:pPr>
                        <a:defRPr sz="1100" b="1">
                          <a:solidFill>
                            <a:srgbClr val="1F252D"/>
                          </a:solidFill>
                        </a:defRPr>
                      </a:pPr>
                      <a:r>
                        <a:t>Priority</a:t>
                      </a:r>
                    </a:p>
                  </a:txBody>
                  <a:tcPr marL="45720" marR="45720" anchor="t">
                    <a:solidFill>
                      <a:srgbClr val="F3F6FA"/>
                    </a:solidFill>
                  </a:tcPr>
                </a:tc>
                <a:tc>
                  <a:txBody>
                    <a:bodyPr/>
                    <a:lstStyle/>
                    <a:p>
                      <a:pPr>
                        <a:defRPr sz="1100" b="1">
                          <a:solidFill>
                            <a:srgbClr val="1F252D"/>
                          </a:solidFill>
                        </a:defRPr>
                      </a:pPr>
                      <a:r>
                        <a:t>Experiment</a:t>
                      </a:r>
                    </a:p>
                  </a:txBody>
                  <a:tcPr marL="45720" marR="45720" anchor="t">
                    <a:solidFill>
                      <a:srgbClr val="F3F6FA"/>
                    </a:solidFill>
                  </a:tcPr>
                </a:tc>
                <a:tc>
                  <a:txBody>
                    <a:bodyPr/>
                    <a:lstStyle/>
                    <a:p>
                      <a:pPr>
                        <a:defRPr sz="1100" b="1">
                          <a:solidFill>
                            <a:srgbClr val="1F252D"/>
                          </a:solidFill>
                        </a:defRPr>
                      </a:pPr>
                      <a:r>
                        <a:t>Decision criterion</a:t>
                      </a:r>
                    </a:p>
                  </a:txBody>
                  <a:tcPr marL="45720" marR="45720" anchor="t">
                    <a:solidFill>
                      <a:srgbClr val="F3F6FA"/>
                    </a:solidFill>
                  </a:tcPr>
                </a:tc>
              </a:tr>
              <a:tr h="457200">
                <a:tc>
                  <a:txBody>
                    <a:bodyPr/>
                    <a:lstStyle/>
                    <a:p>
                      <a:pPr>
                        <a:defRPr sz="1100">
                          <a:solidFill>
                            <a:srgbClr val="1F252D"/>
                          </a:solidFill>
                        </a:defRPr>
                      </a:pPr>
                      <a:r>
                        <a:t>1</a:t>
                      </a:r>
                    </a:p>
                  </a:txBody>
                  <a:tcPr marL="45720" marR="45720" anchor="t"/>
                </a:tc>
                <a:tc>
                  <a:txBody>
                    <a:bodyPr/>
                    <a:lstStyle/>
                    <a:p>
                      <a:pPr>
                        <a:defRPr sz="1100">
                          <a:solidFill>
                            <a:srgbClr val="1F252D"/>
                          </a:solidFill>
                        </a:defRPr>
                      </a:pPr>
                      <a:r>
                        <a:t>Real rollout mismatch for selected top-k candidates</a:t>
                      </a:r>
                    </a:p>
                  </a:txBody>
                  <a:tcPr marL="45720" marR="45720" anchor="t"/>
                </a:tc>
                <a:tc>
                  <a:txBody>
                    <a:bodyPr/>
                    <a:lstStyle/>
                    <a:p>
                      <a:pPr>
                        <a:defRPr sz="1100">
                          <a:solidFill>
                            <a:srgbClr val="1F252D"/>
                          </a:solidFill>
                        </a:defRPr>
                      </a:pPr>
                      <a:r>
                        <a:t>If predicted-good but real-bad dominates, target cost reliability</a:t>
                      </a:r>
                    </a:p>
                  </a:txBody>
                  <a:tcPr marL="45720" marR="45720" anchor="t"/>
                </a:tc>
              </a:tr>
              <a:tr h="457200">
                <a:tc>
                  <a:txBody>
                    <a:bodyPr/>
                    <a:lstStyle/>
                    <a:p>
                      <a:pPr>
                        <a:defRPr sz="1100">
                          <a:solidFill>
                            <a:srgbClr val="1F252D"/>
                          </a:solidFill>
                        </a:defRPr>
                      </a:pPr>
                      <a:r>
                        <a:t>2</a:t>
                      </a:r>
                    </a:p>
                  </a:txBody>
                  <a:tcPr marL="45720" marR="45720" anchor="t"/>
                </a:tc>
                <a:tc>
                  <a:txBody>
                    <a:bodyPr/>
                    <a:lstStyle/>
                    <a:p>
                      <a:pPr>
                        <a:defRPr sz="1100">
                          <a:solidFill>
                            <a:srgbClr val="1F252D"/>
                          </a:solidFill>
                        </a:defRPr>
                      </a:pPr>
                      <a:r>
                        <a:t>CEM diversity-preserving variant, default horizon only</a:t>
                      </a:r>
                    </a:p>
                  </a:txBody>
                  <a:tcPr marL="45720" marR="45720" anchor="t"/>
                </a:tc>
                <a:tc>
                  <a:txBody>
                    <a:bodyPr/>
                    <a:lstStyle/>
                    <a:p>
                      <a:pPr>
                        <a:defRPr sz="1100">
                          <a:solidFill>
                            <a:srgbClr val="1F252D"/>
                          </a:solidFill>
                        </a:defRPr>
                      </a:pPr>
                      <a:r>
                        <a:t>If no-hit decreases, candidate generation is the path</a:t>
                      </a:r>
                    </a:p>
                  </a:txBody>
                  <a:tcPr marL="45720" marR="45720" anchor="t"/>
                </a:tc>
              </a:tr>
              <a:tr h="457200">
                <a:tc>
                  <a:txBody>
                    <a:bodyPr/>
                    <a:lstStyle/>
                    <a:p>
                      <a:pPr>
                        <a:defRPr sz="1100">
                          <a:solidFill>
                            <a:srgbClr val="1F252D"/>
                          </a:solidFill>
                        </a:defRPr>
                      </a:pPr>
                      <a:r>
                        <a:t>3</a:t>
                      </a:r>
                    </a:p>
                  </a:txBody>
                  <a:tcPr marL="45720" marR="45720" anchor="t"/>
                </a:tc>
                <a:tc>
                  <a:txBody>
                    <a:bodyPr/>
                    <a:lstStyle/>
                    <a:p>
                      <a:pPr>
                        <a:defRPr sz="1100">
                          <a:solidFill>
                            <a:srgbClr val="1F252D"/>
                          </a:solidFill>
                        </a:defRPr>
                      </a:pPr>
                      <a:r>
                        <a:t>Episode-level case study videos/trajectories</a:t>
                      </a:r>
                    </a:p>
                  </a:txBody>
                  <a:tcPr marL="45720" marR="45720" anchor="t"/>
                </a:tc>
                <a:tc>
                  <a:txBody>
                    <a:bodyPr/>
                    <a:lstStyle/>
                    <a:p>
                      <a:pPr>
                        <a:defRPr sz="1100">
                          <a:solidFill>
                            <a:srgbClr val="1F252D"/>
                          </a:solidFill>
                        </a:defRPr>
                      </a:pPr>
                      <a:r>
                        <a:t>Show where MoDA top1 goes wrong vs success candidate</a:t>
                      </a:r>
                    </a:p>
                  </a:txBody>
                  <a:tcPr marL="45720" marR="45720" anchor="t"/>
                </a:tc>
              </a:tr>
              <a:tr h="457200">
                <a:tc>
                  <a:txBody>
                    <a:bodyPr/>
                    <a:lstStyle/>
                    <a:p>
                      <a:pPr>
                        <a:defRPr sz="1100">
                          <a:solidFill>
                            <a:srgbClr val="1F252D"/>
                          </a:solidFill>
                        </a:defRPr>
                      </a:pPr>
                      <a:r>
                        <a:t>4</a:t>
                      </a:r>
                    </a:p>
                  </a:txBody>
                  <a:tcPr marL="45720" marR="45720" anchor="t"/>
                </a:tc>
                <a:tc>
                  <a:txBody>
                    <a:bodyPr/>
                    <a:lstStyle/>
                    <a:p>
                      <a:pPr>
                        <a:defRPr sz="1100">
                          <a:solidFill>
                            <a:srgbClr val="1F252D"/>
                          </a:solidFill>
                        </a:defRPr>
                      </a:pPr>
                      <a:r>
                        <a:t>Multi-seed check for best gate07 epochs</a:t>
                      </a:r>
                    </a:p>
                  </a:txBody>
                  <a:tcPr marL="45720" marR="45720" anchor="t"/>
                </a:tc>
                <a:tc>
                  <a:txBody>
                    <a:bodyPr/>
                    <a:lstStyle/>
                    <a:p>
                      <a:pPr>
                        <a:defRPr sz="1100">
                          <a:solidFill>
                            <a:srgbClr val="1F252D"/>
                          </a:solidFill>
                        </a:defRPr>
                      </a:pPr>
                      <a:r>
                        <a:t>Avoid overfitting seed42 / ep4 diagnostics</a:t>
                      </a:r>
                    </a:p>
                  </a:txBody>
                  <a:tcPr marL="45720" marR="45720" anchor="t"/>
                </a:tc>
              </a:tr>
            </a:tbl>
          </a:graphicData>
        </a:graphic>
      </p:graphicFrame>
      <p:sp>
        <p:nvSpPr>
          <p:cNvPr id="4" name="Rounded Rectangle 3"/>
          <p:cNvSpPr/>
          <p:nvPr/>
        </p:nvSpPr>
        <p:spPr>
          <a:xfrm>
            <a:off x="822960" y="3977639"/>
            <a:ext cx="10515600" cy="1371600"/>
          </a:xfrm>
          <a:prstGeom prst="roundRect">
            <a:avLst/>
          </a:prstGeom>
          <a:solidFill>
            <a:srgbClr val="FFFFFF"/>
          </a:solidFill>
          <a:ln>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lIns="164592" rIns="137160" tIns="109728"/>
          <a:lstStyle/>
          <a:p>
            <a:pPr algn="ctr">
              <a:defRPr sz="1500" b="1">
                <a:solidFill>
                  <a:srgbClr val="2463EB"/>
                </a:solidFill>
              </a:defRPr>
            </a:pPr>
            <a:r>
              <a:t>Near-term method candidate</a:t>
            </a:r>
          </a:p>
          <a:p>
            <a:pPr>
              <a:defRPr sz="1200">
                <a:solidFill>
                  <a:srgbClr val="1F252D"/>
                </a:solidFill>
              </a:defRPr>
            </a:pPr>
            <a:r>
              <a:t>Conservative planning calibration: preserve default LeWM/CEM, add planning-level checks only when top-k diagnostics justify them.</a:t>
            </a:r>
          </a:p>
          <a:p>
            <a:pPr>
              <a:defRPr sz="1200">
                <a:solidFill>
                  <a:srgbClr val="1F252D"/>
                </a:solidFill>
              </a:defRPr>
            </a:pPr>
            <a:r>
              <a:t>Do not present subspace/rerank as the main solution yet.</a:t>
            </a:r>
          </a:p>
        </p:txBody>
      </p:sp>
      <p:sp>
        <p:nvSpPr>
          <p:cNvPr id="5" name="TextBox 4"/>
          <p:cNvSpPr txBox="1"/>
          <p:nvPr/>
        </p:nvSpPr>
        <p:spPr>
          <a:xfrm>
            <a:off x="502920" y="6446520"/>
            <a:ext cx="11155680" cy="228600"/>
          </a:xfrm>
          <a:prstGeom prst="rect">
            <a:avLst/>
          </a:prstGeom>
          <a:noFill/>
        </p:spPr>
        <p:txBody>
          <a:bodyPr wrap="none">
            <a:spAutoFit/>
          </a:bodyPr>
          <a:lstStyle/>
          <a:p>
            <a:pPr>
              <a:defRPr sz="900">
                <a:solidFill>
                  <a:srgbClr val="5C6773"/>
                </a:solidFill>
              </a:defRPr>
            </a:pPr>
            <a:r>
              <a:t>MoDA / LeWM planning diagnostics | 2026-05-08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502920"/>
          </a:xfrm>
          <a:prstGeom prst="rect">
            <a:avLst/>
          </a:prstGeom>
          <a:noFill/>
        </p:spPr>
        <p:txBody>
          <a:bodyPr wrap="none">
            <a:spAutoFit/>
          </a:bodyPr>
          <a:lstStyle/>
          <a:p>
            <a:pPr>
              <a:defRPr sz="2600" b="1">
                <a:solidFill>
                  <a:srgbClr val="1F252D"/>
                </a:solidFill>
              </a:defRPr>
            </a:pPr>
            <a:r>
              <a:t>Short version to say out loud</a:t>
            </a:r>
          </a:p>
        </p:txBody>
      </p:sp>
      <p:sp>
        <p:nvSpPr>
          <p:cNvPr id="3" name="TextBox 2"/>
          <p:cNvSpPr txBox="1"/>
          <p:nvPr/>
        </p:nvSpPr>
        <p:spPr>
          <a:xfrm>
            <a:off x="822960" y="1234440"/>
            <a:ext cx="10607040" cy="4114800"/>
          </a:xfrm>
          <a:prstGeom prst="rect">
            <a:avLst/>
          </a:prstGeom>
          <a:noFill/>
        </p:spPr>
        <p:txBody>
          <a:bodyPr wrap="square">
            <a:spAutoFit/>
          </a:bodyPr>
          <a:lstStyle/>
          <a:p>
            <a:pPr>
              <a:defRPr sz="2000">
                <a:solidFill>
                  <a:srgbClr val="1F252D"/>
                </a:solidFill>
              </a:defRPr>
            </a:pPr>
            <a:r>
              <a:t>MoDA/gate07 does improve representation and has early planning gains, but our diagnostics show that planning failure is not a single ranking problem. Top-k oracle splits failures into two types: some are rerankable, but many have no successful candidate in top-k even with larger sampling. CEM trace further shows that successful cases retain larger candidate trajectory spread, while failed cases collapse into much tighter candidate behavior. Longer horizon hurts badly, and simple restart or consistency reranking does not solve it. So the next method should target planning-level candidate generation and rollout/cost reliability, not just another local subspace or ranking loss.</a:t>
            </a:r>
          </a:p>
        </p:txBody>
      </p:sp>
      <p:sp>
        <p:nvSpPr>
          <p:cNvPr id="4" name="TextBox 3"/>
          <p:cNvSpPr txBox="1"/>
          <p:nvPr/>
        </p:nvSpPr>
        <p:spPr>
          <a:xfrm>
            <a:off x="502920" y="6446520"/>
            <a:ext cx="11155680" cy="228600"/>
          </a:xfrm>
          <a:prstGeom prst="rect">
            <a:avLst/>
          </a:prstGeom>
          <a:noFill/>
        </p:spPr>
        <p:txBody>
          <a:bodyPr wrap="none">
            <a:spAutoFit/>
          </a:bodyPr>
          <a:lstStyle/>
          <a:p>
            <a:pPr>
              <a:defRPr sz="900">
                <a:solidFill>
                  <a:srgbClr val="5C6773"/>
                </a:solidFill>
              </a:defRPr>
            </a:pPr>
            <a:r>
              <a:t>MoDA / LeWM planning diagnostics | 2026-05-08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