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C2D42"/>
                </a:solidFill>
                <a:latin typeface="Arial"/>
              </a:rPr>
              <a:t>MoDA for LeWM Planning: Technical Path and Current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325880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0">
                <a:solidFill>
                  <a:srgbClr val="606870"/>
                </a:solidFill>
                <a:latin typeface="Arial"/>
              </a:rPr>
              <a:t>从 baseline-safe integration 到 MoDA-only candidate generation correction 的复盘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057400"/>
            <a:ext cx="2377440" cy="1325880"/>
          </a:xfrm>
          <a:prstGeom prst="roundRect">
            <a:avLst/>
          </a:prstGeom>
          <a:solidFill>
            <a:srgbClr val="FAFBFC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2185416"/>
            <a:ext cx="215798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606870"/>
                </a:solidFill>
                <a:latin typeface="Arial"/>
              </a:rPr>
              <a:t>Strong baseline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496312"/>
            <a:ext cx="215798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300" b="1">
                <a:solidFill>
                  <a:srgbClr val="1C2D42"/>
                </a:solidFill>
                <a:latin typeface="Arial"/>
              </a:rPr>
              <a:t>81.0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953512"/>
            <a:ext cx="215798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606870"/>
                </a:solidFill>
                <a:latin typeface="Arial"/>
              </a:rPr>
              <a:t>bsl top1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057400"/>
            <a:ext cx="2377440" cy="1325880"/>
          </a:xfrm>
          <a:prstGeom prst="roundRect">
            <a:avLst/>
          </a:prstGeom>
          <a:solidFill>
            <a:srgbClr val="FAFBFC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84448" y="2185416"/>
            <a:ext cx="215798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606870"/>
                </a:solidFill>
                <a:latin typeface="Arial"/>
              </a:rPr>
              <a:t>bsl-integrated best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84448" y="2496312"/>
            <a:ext cx="215798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300" b="1">
                <a:solidFill>
                  <a:srgbClr val="3B844A"/>
                </a:solidFill>
                <a:latin typeface="Arial"/>
              </a:rPr>
              <a:t>83.17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84448" y="2953512"/>
            <a:ext cx="215798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606870"/>
                </a:solidFill>
                <a:latin typeface="Arial"/>
              </a:rPr>
              <a:t>not MoDA-only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2057400"/>
            <a:ext cx="2377440" cy="1325880"/>
          </a:xfrm>
          <a:prstGeom prst="roundRect">
            <a:avLst/>
          </a:prstGeom>
          <a:solidFill>
            <a:srgbClr val="FAFBFC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36208" y="2185416"/>
            <a:ext cx="215798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606870"/>
                </a:solidFill>
                <a:latin typeface="Arial"/>
              </a:rPr>
              <a:t>MoDA-only raw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6208" y="2496312"/>
            <a:ext cx="215798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300" b="1">
                <a:solidFill>
                  <a:srgbClr val="D6732C"/>
                </a:solidFill>
                <a:latin typeface="Arial"/>
              </a:rPr>
              <a:t>46-60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2953512"/>
            <a:ext cx="215798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606870"/>
                </a:solidFill>
                <a:latin typeface="Arial"/>
              </a:rPr>
              <a:t>eval-set dependent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78240" y="2057400"/>
            <a:ext cx="2377440" cy="1325880"/>
          </a:xfrm>
          <a:prstGeom prst="roundRect">
            <a:avLst/>
          </a:prstGeom>
          <a:solidFill>
            <a:srgbClr val="FAFBFC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87967" y="2185416"/>
            <a:ext cx="215798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606870"/>
                </a:solidFill>
                <a:latin typeface="Arial"/>
              </a:rPr>
              <a:t>Residual proposal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87967" y="2496312"/>
            <a:ext cx="215798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300" b="1">
                <a:solidFill>
                  <a:srgbClr val="187878"/>
                </a:solidFill>
                <a:latin typeface="Arial"/>
              </a:rPr>
              <a:t>+3 to +5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87967" y="2953512"/>
            <a:ext cx="215798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606870"/>
                </a:solidFill>
                <a:latin typeface="Arial"/>
              </a:rPr>
              <a:t>paired gain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3977639"/>
            <a:ext cx="10424160" cy="14173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15568" y="4142231"/>
            <a:ext cx="1002182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87878"/>
                </a:solidFill>
                <a:latin typeface="Arial"/>
              </a:rPr>
              <a:t>Takeaway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4544568"/>
            <a:ext cx="1001268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4181C"/>
                </a:solidFill>
                <a:latin typeface="Arial"/>
              </a:defRPr>
            </a:pPr>
            <a:r>
              <a:t>MoDA has useful complementary candidates, but raw cost is not reliable for direct top1 planning.</a:t>
            </a:r>
          </a:p>
          <a:p>
            <a:pPr>
              <a:spcAft>
                <a:spcPts val="600"/>
              </a:spcAft>
              <a:defRPr sz="1300">
                <a:solidFill>
                  <a:srgbClr val="14181C"/>
                </a:solidFill>
                <a:latin typeface="Arial"/>
              </a:defRPr>
            </a:pPr>
            <a:r>
              <a:t>Post-hoc candidate reranking is not enough; current positive MoDA-only signal comes from changing action proposal generation.</a:t>
            </a:r>
          </a:p>
          <a:p>
            <a:pPr>
              <a:spcAft>
                <a:spcPts val="600"/>
              </a:spcAft>
              <a:defRPr sz="1300">
                <a:solidFill>
                  <a:srgbClr val="14181C"/>
                </a:solidFill>
                <a:latin typeface="Arial"/>
              </a:defRPr>
            </a:pPr>
            <a:r>
              <a:t>The most defensible story is diagnosis + residual proposal correction, with bsl results kept as secondary system integration evidence.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C2D42"/>
                </a:solidFill>
                <a:latin typeface="Arial"/>
              </a:rPr>
              <a:t>Problem Reframing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06870"/>
                </a:solidFill>
                <a:latin typeface="Arial"/>
              </a:rPr>
              <a:t>不要把方法讲成 bsl failure patch；先分清三类“正结果”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2D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63040"/>
            <a:ext cx="3474720" cy="42062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627632"/>
            <a:ext cx="30723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3B844A"/>
                </a:solidFill>
                <a:latin typeface="Arial"/>
              </a:rPr>
              <a:t>A. bsl-relative integration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29968"/>
            <a:ext cx="3063239" cy="3493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4181C"/>
                </a:solidFill>
                <a:latin typeface="Arial"/>
              </a:defRPr>
            </a:pPr>
            <a:r>
              <a:t>81.0 -&gt; 81.5 / 82.0 / 83.17 / 81.83</a:t>
            </a:r>
          </a:p>
          <a:p>
            <a:pPr>
              <a:spcAft>
                <a:spcPts val="600"/>
              </a:spcAft>
              <a:defRPr sz="1300">
                <a:solidFill>
                  <a:srgbClr val="14181C"/>
                </a:solidFill>
                <a:latin typeface="Arial"/>
              </a:defRPr>
            </a:pPr>
            <a:r>
              <a:t>bsl 保底，只在 gate/detector 区域切 MoDA</a:t>
            </a:r>
          </a:p>
          <a:p>
            <a:pPr>
              <a:spcAft>
                <a:spcPts val="600"/>
              </a:spcAft>
              <a:defRPr sz="1300">
                <a:solidFill>
                  <a:srgbClr val="14181C"/>
                </a:solidFill>
                <a:latin typeface="Arial"/>
              </a:defRPr>
            </a:pPr>
            <a:r>
              <a:t>证明 MoDA 有辅助价值，但不是 MoDA-only 方法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463040"/>
            <a:ext cx="3474720" cy="42062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44568" y="1627632"/>
            <a:ext cx="30723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D6732C"/>
                </a:solidFill>
                <a:latin typeface="Arial"/>
              </a:rPr>
              <a:t>B. AUC false positives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029968"/>
            <a:ext cx="3063239" cy="3493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4181C"/>
                </a:solidFill>
                <a:latin typeface="Arial"/>
              </a:defRPr>
            </a:pPr>
            <a:r>
              <a:t>BCE / candidate AUC 可到 0.69 甚至更高</a:t>
            </a:r>
          </a:p>
          <a:p>
            <a:pPr>
              <a:spcAft>
                <a:spcPts val="600"/>
              </a:spcAft>
              <a:defRPr sz="1300">
                <a:solidFill>
                  <a:srgbClr val="14181C"/>
                </a:solidFill>
                <a:latin typeface="Arial"/>
              </a:defRPr>
            </a:pPr>
            <a:r>
              <a:t>但 top1 基本不涨</a:t>
            </a:r>
          </a:p>
          <a:p>
            <a:pPr>
              <a:spcAft>
                <a:spcPts val="600"/>
              </a:spcAft>
              <a:defRPr sz="1300">
                <a:solidFill>
                  <a:srgbClr val="14181C"/>
                </a:solidFill>
                <a:latin typeface="Arial"/>
              </a:defRPr>
            </a:pPr>
            <a:r>
              <a:t>审计后发现大量来自 episode difficulty leakage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463040"/>
            <a:ext cx="3474720" cy="42062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93608" y="1627632"/>
            <a:ext cx="30723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87878"/>
                </a:solidFill>
                <a:latin typeface="Arial"/>
              </a:rPr>
              <a:t>C. MoDA-only residual proposal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029968"/>
            <a:ext cx="3063239" cy="3493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4181C"/>
                </a:solidFill>
                <a:latin typeface="Arial"/>
              </a:defRPr>
            </a:pPr>
            <a:r>
              <a:t>raw action -&gt; predict residual delta_a</a:t>
            </a:r>
          </a:p>
          <a:p>
            <a:pPr>
              <a:spcAft>
                <a:spcPts val="600"/>
              </a:spcAft>
              <a:defRPr sz="1300">
                <a:solidFill>
                  <a:srgbClr val="14181C"/>
                </a:solidFill>
                <a:latin typeface="Arial"/>
              </a:defRPr>
            </a:pPr>
            <a:r>
              <a:t>生成 shifted candidates，再用 calibrated cost 评估</a:t>
            </a:r>
          </a:p>
          <a:p>
            <a:pPr>
              <a:spcAft>
                <a:spcPts val="600"/>
              </a:spcAft>
              <a:defRPr sz="1300">
                <a:solidFill>
                  <a:srgbClr val="14181C"/>
                </a:solidFill>
                <a:latin typeface="Arial"/>
              </a:defRPr>
            </a:pPr>
            <a:r>
              <a:t>不是 final rerank，是 candidate generation correction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C2D42"/>
                </a:solidFill>
                <a:latin typeface="Arial"/>
              </a:rPr>
              <a:t>Evidence 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06870"/>
                </a:solidFill>
                <a:latin typeface="Arial"/>
              </a:rPr>
              <a:t>为什么从 selector/reranker 转向 proposal correction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2D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2240280" cy="1143000"/>
          </a:xfrm>
          <a:prstGeom prst="roundRect">
            <a:avLst/>
          </a:prstGeom>
          <a:solidFill>
            <a:srgbClr val="FAFBFC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545336"/>
            <a:ext cx="202082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606870"/>
                </a:solidFill>
                <a:latin typeface="Arial"/>
              </a:rPr>
              <a:t>stateroll top1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1856232"/>
            <a:ext cx="202082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300" b="1">
                <a:solidFill>
                  <a:srgbClr val="D6732C"/>
                </a:solidFill>
                <a:latin typeface="Arial"/>
              </a:rPr>
              <a:t>55.3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313432"/>
            <a:ext cx="20208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606870"/>
                </a:solidFill>
                <a:latin typeface="Arial"/>
              </a:rPr>
              <a:t>raw pool selection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54680" y="1417320"/>
            <a:ext cx="2240280" cy="1143000"/>
          </a:xfrm>
          <a:prstGeom prst="roundRect">
            <a:avLst/>
          </a:prstGeom>
          <a:solidFill>
            <a:srgbClr val="FAFBFC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64408" y="1545336"/>
            <a:ext cx="202082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606870"/>
                </a:solidFill>
                <a:latin typeface="Arial"/>
              </a:rPr>
              <a:t>stateroll oracle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64408" y="1856232"/>
            <a:ext cx="202082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300" b="1">
                <a:solidFill>
                  <a:srgbClr val="3B844A"/>
                </a:solidFill>
                <a:latin typeface="Arial"/>
              </a:rPr>
              <a:t>78.3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64408" y="2313432"/>
            <a:ext cx="20208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606870"/>
                </a:solidFill>
                <a:latin typeface="Arial"/>
              </a:rPr>
              <a:t>success exists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23560" y="1417320"/>
            <a:ext cx="2240280" cy="1143000"/>
          </a:xfrm>
          <a:prstGeom prst="roundRect">
            <a:avLst/>
          </a:prstGeom>
          <a:solidFill>
            <a:srgbClr val="FAFBFC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33288" y="1545336"/>
            <a:ext cx="202082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606870"/>
                </a:solidFill>
                <a:latin typeface="Arial"/>
              </a:rPr>
              <a:t>raw AUC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33288" y="1856232"/>
            <a:ext cx="202082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300" b="1">
                <a:solidFill>
                  <a:srgbClr val="B03434"/>
                </a:solidFill>
                <a:latin typeface="Arial"/>
              </a:rPr>
              <a:t>~0.49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33288" y="2313432"/>
            <a:ext cx="20208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606870"/>
                </a:solidFill>
                <a:latin typeface="Arial"/>
              </a:rPr>
              <a:t>near random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417320"/>
            <a:ext cx="2240280" cy="1143000"/>
          </a:xfrm>
          <a:prstGeom prst="roundRect">
            <a:avLst/>
          </a:prstGeom>
          <a:solidFill>
            <a:srgbClr val="FAFBFC"/>
          </a:solidFill>
          <a:ln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02167" y="1545336"/>
            <a:ext cx="202082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606870"/>
                </a:solidFill>
                <a:latin typeface="Arial"/>
              </a:rPr>
              <a:t>candidate-only intra-AUC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2167" y="1856232"/>
            <a:ext cx="202082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300" b="1">
                <a:solidFill>
                  <a:srgbClr val="B03434"/>
                </a:solidFill>
                <a:latin typeface="Arial"/>
              </a:rPr>
              <a:t>0.559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2167" y="2313432"/>
            <a:ext cx="20208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606870"/>
                </a:solidFill>
                <a:latin typeface="Arial"/>
              </a:rPr>
              <a:t>weak inside episode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3063240"/>
            <a:ext cx="5029200" cy="23774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4128" y="3227832"/>
            <a:ext cx="46268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D6732C"/>
                </a:solidFill>
                <a:latin typeface="Arial"/>
              </a:rPr>
              <a:t>Diagnosis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3630168"/>
            <a:ext cx="4617720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4181C"/>
                </a:solidFill>
                <a:latin typeface="Arial"/>
              </a:defRPr>
            </a:pPr>
            <a:r>
              <a:t>MoDA candidate pool contains successful plans, but raw latent cost does not select them reliably.</a:t>
            </a:r>
          </a:p>
          <a:p>
            <a:pPr>
              <a:spcAft>
                <a:spcPts val="600"/>
              </a:spcAft>
              <a:defRPr sz="1300">
                <a:solidFill>
                  <a:srgbClr val="14181C"/>
                </a:solidFill>
                <a:latin typeface="Arial"/>
              </a:defRPr>
            </a:pPr>
            <a:r>
              <a:t>High global AUC is misleading because it can be explained by episode difficulty, not intra-episode candidate choice.</a:t>
            </a:r>
          </a:p>
          <a:p>
            <a:pPr>
              <a:spcAft>
                <a:spcPts val="600"/>
              </a:spcAft>
              <a:defRPr sz="1300">
                <a:solidFill>
                  <a:srgbClr val="14181C"/>
                </a:solidFill>
                <a:latin typeface="Arial"/>
              </a:defRPr>
            </a:pPr>
            <a:r>
              <a:t>Feature-level post-hoc reranking cannot consistently beat the rank0 near-miss failure.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3063240"/>
            <a:ext cx="5029200" cy="23774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0528" y="3227832"/>
            <a:ext cx="46268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87878"/>
                </a:solidFill>
                <a:latin typeface="Arial"/>
              </a:rPr>
              <a:t>Method implication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3630168"/>
            <a:ext cx="4617720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4181C"/>
                </a:solidFill>
                <a:latin typeface="Arial"/>
              </a:defRPr>
            </a:pPr>
            <a:r>
              <a:t>The bottleneck is not only final selection.</a:t>
            </a:r>
          </a:p>
          <a:p>
            <a:pPr>
              <a:spcAft>
                <a:spcPts val="600"/>
              </a:spcAft>
              <a:defRPr sz="1300">
                <a:solidFill>
                  <a:srgbClr val="14181C"/>
                </a:solidFill>
                <a:latin typeface="Arial"/>
              </a:defRPr>
            </a:pPr>
            <a:r>
              <a:t>Need to enter planner/proposal level: change where candidates are generated, not only how final 30 candidates are sorted.</a:t>
            </a:r>
          </a:p>
          <a:p>
            <a:pPr>
              <a:spcAft>
                <a:spcPts val="600"/>
              </a:spcAft>
              <a:defRPr sz="1300">
                <a:solidFill>
                  <a:srgbClr val="14181C"/>
                </a:solidFill>
                <a:latin typeface="Arial"/>
              </a:defRPr>
            </a:pPr>
            <a:r>
              <a:t>This motivates success-conditioned residual proposal.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C2D42"/>
                </a:solidFill>
                <a:latin typeface="Arial"/>
              </a:rPr>
              <a:t>Secondary Result: Baseline-Safe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06870"/>
                </a:solidFill>
                <a:latin typeface="Arial"/>
              </a:rPr>
              <a:t>有效但不能作为 MoDA-only 主线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2D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417320"/>
          <a:ext cx="104241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1097280"/>
                <a:gridCol w="1188720"/>
                <a:gridCol w="1188720"/>
                <a:gridCol w="4480560"/>
              </a:tblGrid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Setting</a:t>
                      </a:r>
                    </a:p>
                  </a:txBody>
                  <a:tcPr>
                    <a:solidFill>
                      <a:srgbClr val="1C2D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Top1</a:t>
                      </a:r>
                    </a:p>
                  </a:txBody>
                  <a:tcPr>
                    <a:solidFill>
                      <a:srgbClr val="1C2D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Fixed</a:t>
                      </a:r>
                    </a:p>
                  </a:txBody>
                  <a:tcPr>
                    <a:solidFill>
                      <a:srgbClr val="1C2D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Harmed</a:t>
                      </a:r>
                    </a:p>
                  </a:txBody>
                  <a:tcPr>
                    <a:solidFill>
                      <a:srgbClr val="1C2D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Interpretation</a:t>
                      </a:r>
                    </a:p>
                  </a:txBody>
                  <a:tcPr>
                    <a:solidFill>
                      <a:srgbClr val="1C2D4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81C"/>
                          </a:solidFill>
                          <a:latin typeface="Arial"/>
                        </a:defRPr>
                      </a:pPr>
                      <a:r>
                        <a:t>bsl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81C"/>
                          </a:solidFill>
                          <a:latin typeface="Arial"/>
                        </a:defRPr>
                      </a:pPr>
                      <a:r>
                        <a:t>81.00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81C"/>
                          </a:solidFill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81C"/>
                          </a:solidFill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81C"/>
                          </a:solidFill>
                          <a:latin typeface="Arial"/>
                        </a:defRPr>
                      </a:pPr>
                      <a:r>
                        <a:t>strong evaluation 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81C"/>
                          </a:solidFill>
                          <a:latin typeface="Arial"/>
                        </a:defRPr>
                      </a:pPr>
                      <a:r>
                        <a:t>PAC-MoDA conservative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81C"/>
                          </a:solidFill>
                          <a:latin typeface="Arial"/>
                        </a:defRPr>
                      </a:pPr>
                      <a:r>
                        <a:t>82.00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81C"/>
                          </a:solidFill>
                          <a:latin typeface="Arial"/>
                        </a:defRPr>
                      </a:pPr>
                      <a:r>
                        <a:t>positive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81C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81C"/>
                          </a:solidFill>
                          <a:latin typeface="Arial"/>
                        </a:defRPr>
                      </a:pPr>
                      <a:r>
                        <a:t>safe but still bsl-relative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81C"/>
                          </a:solidFill>
                          <a:latin typeface="Arial"/>
                        </a:defRPr>
                      </a:pPr>
                      <a:r>
                        <a:t>selector-v3 balanced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81C"/>
                          </a:solidFill>
                          <a:latin typeface="Arial"/>
                        </a:defRPr>
                      </a:pPr>
                      <a:r>
                        <a:t>83.17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81C"/>
                          </a:solidFill>
                          <a:latin typeface="Arial"/>
                        </a:defRPr>
                      </a:pPr>
                      <a:r>
                        <a:t>higher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81C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81C"/>
                          </a:solidFill>
                          <a:latin typeface="Arial"/>
                        </a:defRPr>
                      </a:pPr>
                      <a:r>
                        <a:t>best bsl-integrated result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81C"/>
                          </a:solidFill>
                          <a:latin typeface="Arial"/>
                        </a:defRPr>
                      </a:pPr>
                      <a:r>
                        <a:t>risk-controlled gate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81C"/>
                          </a:solidFill>
                          <a:latin typeface="Arial"/>
                        </a:defRPr>
                      </a:pPr>
                      <a:r>
                        <a:t>81.83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81C"/>
                          </a:solidFill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81C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81C"/>
                          </a:solidFill>
                          <a:latin typeface="Arial"/>
                        </a:defRPr>
                      </a:pPr>
                      <a:r>
                        <a:t>deployable auxiliary integration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914400" y="4069080"/>
            <a:ext cx="10241280" cy="12344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4233672"/>
            <a:ext cx="983894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3B844A"/>
                </a:solidFill>
                <a:latin typeface="Arial"/>
              </a:rPr>
              <a:t>How to say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636008"/>
            <a:ext cx="982980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4181C"/>
                </a:solidFill>
                <a:latin typeface="Arial"/>
              </a:defRPr>
            </a:pPr>
            <a:r>
              <a:t>These results show MoDA has complementary value when protected by a strong fallback.</a:t>
            </a:r>
          </a:p>
          <a:p>
            <a:pPr>
              <a:spcAft>
                <a:spcPts val="600"/>
              </a:spcAft>
              <a:defRPr sz="1300">
                <a:solidFill>
                  <a:srgbClr val="14181C"/>
                </a:solidFill>
                <a:latin typeface="Arial"/>
              </a:defRPr>
            </a:pPr>
            <a:r>
              <a:t>They should be reported as system integration / safety analysis, not as the core MoDA-only planner result.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C2D42"/>
                </a:solidFill>
                <a:latin typeface="Arial"/>
              </a:rPr>
              <a:t>Why AUC Was Misleading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06870"/>
                </a:solidFill>
                <a:latin typeface="Arial"/>
              </a:rPr>
              <a:t>global separability does not imply top1 planning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2D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325880"/>
          <a:ext cx="106070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280160"/>
                <a:gridCol w="1463040"/>
                <a:gridCol w="1554480"/>
                <a:gridCol w="4023360"/>
              </a:tblGrid>
              <a:tr h="5715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Model / Feature set</a:t>
                      </a:r>
                    </a:p>
                  </a:txBody>
                  <a:tcPr>
                    <a:solidFill>
                      <a:srgbClr val="1C2D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Global AUC</a:t>
                      </a:r>
                    </a:p>
                  </a:txBody>
                  <a:tcPr>
                    <a:solidFill>
                      <a:srgbClr val="1C2D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MoDA-only top1</a:t>
                      </a:r>
                    </a:p>
                  </a:txBody>
                  <a:tcPr>
                    <a:solidFill>
                      <a:srgbClr val="1C2D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Intra-episode AUC</a:t>
                      </a:r>
                    </a:p>
                  </a:txBody>
                  <a:tcPr>
                    <a:solidFill>
                      <a:srgbClr val="1C2D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Key reading</a:t>
                      </a:r>
                    </a:p>
                  </a:txBody>
                  <a:tcPr>
                    <a:solidFill>
                      <a:srgbClr val="1C2D42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81C"/>
                          </a:solidFill>
                          <a:latin typeface="Arial"/>
                        </a:defRPr>
                      </a:pPr>
                      <a:r>
                        <a:t>episode-only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81C"/>
                          </a:solidFill>
                          <a:latin typeface="Arial"/>
                        </a:defRPr>
                      </a:pPr>
                      <a:r>
                        <a:t>0.692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81C"/>
                          </a:solidFill>
                          <a:latin typeface="Arial"/>
                        </a:defRPr>
                      </a:pPr>
                      <a:r>
                        <a:t>55.33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81C"/>
                          </a:solidFill>
                          <a:latin typeface="Arial"/>
                        </a:defRPr>
                      </a:pPr>
                      <a:r>
                        <a:t>0.500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81C"/>
                          </a:solidFill>
                          <a:latin typeface="Arial"/>
                        </a:defRPr>
                      </a:pPr>
                      <a:r>
                        <a:t>episode difficulty leakage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81C"/>
                          </a:solidFill>
                          <a:latin typeface="Arial"/>
                        </a:defRPr>
                      </a:pPr>
                      <a:r>
                        <a:t>candidate-only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81C"/>
                          </a:solidFill>
                          <a:latin typeface="Arial"/>
                        </a:defRPr>
                      </a:pPr>
                      <a:r>
                        <a:t>0.703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81C"/>
                          </a:solidFill>
                          <a:latin typeface="Arial"/>
                        </a:defRPr>
                      </a:pPr>
                      <a:r>
                        <a:t>55.50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81C"/>
                          </a:solidFill>
                          <a:latin typeface="Arial"/>
                        </a:defRPr>
                      </a:pPr>
                      <a:r>
                        <a:t>0.559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81C"/>
                          </a:solidFill>
                          <a:latin typeface="Arial"/>
                        </a:defRPr>
                      </a:pPr>
                      <a:r>
                        <a:t>weak candidate discrimination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81C"/>
                          </a:solidFill>
                          <a:latin typeface="Arial"/>
                        </a:defRPr>
                      </a:pPr>
                      <a:r>
                        <a:t>raw cost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81C"/>
                          </a:solidFill>
                          <a:latin typeface="Arial"/>
                        </a:defRPr>
                      </a:pPr>
                      <a:r>
                        <a:t>0.494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81C"/>
                          </a:solidFill>
                          <a:latin typeface="Arial"/>
                        </a:defRPr>
                      </a:pPr>
                      <a:r>
                        <a:t>55.33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81C"/>
                          </a:solidFill>
                          <a:latin typeface="Arial"/>
                        </a:defRPr>
                      </a:pPr>
                      <a:r>
                        <a:t>0.550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81C"/>
                          </a:solidFill>
                          <a:latin typeface="Arial"/>
                        </a:defRPr>
                      </a:pPr>
                      <a:r>
                        <a:t>near random global ranking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914400" y="3977639"/>
            <a:ext cx="10241280" cy="14173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4142231"/>
            <a:ext cx="983894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D6732C"/>
                </a:solidFill>
                <a:latin typeface="Arial"/>
              </a:rPr>
              <a:t>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544568"/>
            <a:ext cx="982980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4181C"/>
                </a:solidFill>
                <a:latin typeface="Arial"/>
              </a:defRPr>
            </a:pPr>
            <a:r>
              <a:t>The selector can learn which episodes are easy, but it cannot reliably tell which candidate in the same episode should be top1.</a:t>
            </a:r>
          </a:p>
          <a:p>
            <a:pPr>
              <a:spcAft>
                <a:spcPts val="600"/>
              </a:spcAft>
              <a:defRPr sz="1300">
                <a:solidFill>
                  <a:srgbClr val="14181C"/>
                </a:solidFill>
                <a:latin typeface="Arial"/>
              </a:defRPr>
            </a:pPr>
            <a:r>
              <a:t>This is why BCE/listwise/pairwise reranking improved AUC but did not rescue planning success.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C2D42"/>
                </a:solidFill>
                <a:latin typeface="Arial"/>
              </a:rPr>
              <a:t>MoDA-Only Attempts Before Residual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06870"/>
                </a:solidFill>
                <a:latin typeface="Arial"/>
              </a:rPr>
              <a:t>Most inference-time selection fixes were insufficient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2D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371600"/>
          <a:ext cx="1037844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1143000"/>
                <a:gridCol w="4572000"/>
                <a:gridCol w="2011680"/>
              </a:tblGrid>
              <a:tr h="56692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Route</a:t>
                      </a:r>
                    </a:p>
                  </a:txBody>
                  <a:tcPr>
                    <a:solidFill>
                      <a:srgbClr val="1C2D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Best top1</a:t>
                      </a:r>
                    </a:p>
                  </a:txBody>
                  <a:tcPr>
                    <a:solidFill>
                      <a:srgbClr val="1C2D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What happened</a:t>
                      </a:r>
                    </a:p>
                  </a:txBody>
                  <a:tcPr>
                    <a:solidFill>
                      <a:srgbClr val="1C2D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Decision</a:t>
                      </a:r>
                    </a:p>
                  </a:txBody>
                  <a:tcPr>
                    <a:solidFill>
                      <a:srgbClr val="1C2D4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81C"/>
                          </a:solidFill>
                          <a:latin typeface="Arial"/>
                        </a:defRPr>
                      </a:pPr>
                      <a:r>
                        <a:t>post-hoc rerank / BCE / listwise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81C"/>
                          </a:solidFill>
                          <a:latin typeface="Arial"/>
                        </a:defRPr>
                      </a:pPr>
                      <a:r>
                        <a:t>~55-56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81C"/>
                          </a:solidFill>
                          <a:latin typeface="Arial"/>
                        </a:defRPr>
                      </a:pPr>
                      <a:r>
                        <a:t>AUC improved, top1 did not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81C"/>
                          </a:solidFill>
                          <a:latin typeface="Arial"/>
                        </a:defRPr>
                      </a:pPr>
                      <a:r>
                        <a:t>stop as main 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81C"/>
                          </a:solidFill>
                          <a:latin typeface="Arial"/>
                        </a:defRPr>
                      </a:pPr>
                      <a:r>
                        <a:t>planner-in-loop calibrated CEM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81C"/>
                          </a:solidFill>
                          <a:latin typeface="Arial"/>
                        </a:defRPr>
                      </a:pPr>
                      <a:r>
                        <a:t>62.50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81C"/>
                          </a:solidFill>
                          <a:latin typeface="Arial"/>
                        </a:defRPr>
                      </a:pPr>
                      <a:r>
                        <a:t>small bump; not clearly better than final-only rerank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81C"/>
                          </a:solidFill>
                          <a:latin typeface="Arial"/>
                        </a:defRPr>
                      </a:pPr>
                      <a:r>
                        <a:t>moderate only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81C"/>
                          </a:solidFill>
                          <a:latin typeface="Arial"/>
                        </a:defRPr>
                      </a:pPr>
                      <a:r>
                        <a:t>search scaling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81C"/>
                          </a:solidFill>
                          <a:latin typeface="Arial"/>
                        </a:defRPr>
                      </a:pPr>
                      <a:r>
                        <a:t>~60.00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81C"/>
                          </a:solidFill>
                          <a:latin typeface="Arial"/>
                        </a:defRPr>
                      </a:pPr>
                      <a:r>
                        <a:t>larger search did not reliably improve top1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81C"/>
                          </a:solidFill>
                          <a:latin typeface="Arial"/>
                        </a:defRPr>
                      </a:pPr>
                      <a:r>
                        <a:t>not enough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81C"/>
                          </a:solidFill>
                          <a:latin typeface="Arial"/>
                        </a:defRPr>
                      </a:pPr>
                      <a:r>
                        <a:t>action-sensitive contrastive head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81C"/>
                          </a:solidFill>
                          <a:latin typeface="Arial"/>
                        </a:defRPr>
                      </a:pPr>
                      <a:r>
                        <a:t>53.67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81C"/>
                          </a:solidFill>
                          <a:latin typeface="Arial"/>
                        </a:defRPr>
                      </a:pPr>
                      <a:r>
                        <a:t>top1 decreased despite separation signal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81C"/>
                          </a:solidFill>
                          <a:latin typeface="Arial"/>
                        </a:defRPr>
                      </a:pPr>
                      <a:r>
                        <a:t>negative result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914400" y="4709160"/>
            <a:ext cx="10241280" cy="8686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4873752"/>
            <a:ext cx="983894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87878"/>
                </a:solidFill>
                <a:latin typeface="Arial"/>
              </a:rPr>
              <a:t>Implication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5276088"/>
            <a:ext cx="9829800" cy="155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4181C"/>
                </a:solidFill>
                <a:latin typeface="Arial"/>
              </a:defRPr>
            </a:pPr>
            <a:r>
              <a:t>The only promising MoDA-only direction is to change candidate generation, not only scoring.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C2D42"/>
                </a:solidFill>
                <a:latin typeface="Arial"/>
              </a:rPr>
              <a:t>Method: Success-Conditioned Residual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06870"/>
                </a:solidFill>
                <a:latin typeface="Arial"/>
              </a:rPr>
              <a:t>MoDA-only candidate generation correction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2D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691640" cy="914400"/>
          </a:xfrm>
          <a:prstGeom prst="roundRect">
            <a:avLst/>
          </a:prstGeom>
          <a:solidFill>
            <a:srgbClr val="FAFBFC"/>
          </a:solidFill>
          <a:ln w="25400">
            <a:solidFill>
              <a:srgbClr val="D673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29968"/>
            <a:ext cx="1508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D6732C"/>
                </a:solidFill>
                <a:latin typeface="Arial"/>
              </a:rPr>
              <a:t>raw MoDA
rank0 action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34640" y="1828800"/>
            <a:ext cx="1691640" cy="914400"/>
          </a:xfrm>
          <a:prstGeom prst="roundRect">
            <a:avLst/>
          </a:prstGeom>
          <a:solidFill>
            <a:srgbClr val="FAFBFC"/>
          </a:solidFill>
          <a:ln w="25400">
            <a:solidFill>
              <a:srgbClr val="1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0" y="2029968"/>
            <a:ext cx="1508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87878"/>
                </a:solidFill>
                <a:latin typeface="Arial"/>
              </a:rPr>
              <a:t>learn residual
delta_a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37760" y="1828800"/>
            <a:ext cx="1691640" cy="914400"/>
          </a:xfrm>
          <a:prstGeom prst="roundRect">
            <a:avLst/>
          </a:prstGeom>
          <a:solidFill>
            <a:srgbClr val="FAFBFC"/>
          </a:solidFill>
          <a:ln w="25400">
            <a:solidFill>
              <a:srgbClr val="1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2029968"/>
            <a:ext cx="1508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87878"/>
                </a:solidFill>
                <a:latin typeface="Arial"/>
              </a:rPr>
              <a:t>shift candidates
a + s delta_a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0" y="1828800"/>
            <a:ext cx="1691640" cy="914400"/>
          </a:xfrm>
          <a:prstGeom prst="roundRect">
            <a:avLst/>
          </a:prstGeom>
          <a:solidFill>
            <a:srgbClr val="FAFBFC"/>
          </a:solidFill>
          <a:ln w="25400">
            <a:solidFill>
              <a:srgbClr val="1C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0" y="2029968"/>
            <a:ext cx="1508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C2D42"/>
                </a:solidFill>
                <a:latin typeface="Arial"/>
              </a:rPr>
              <a:t>evaluate by
raw/calibrated cost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09760" y="1828800"/>
            <a:ext cx="1691640" cy="914400"/>
          </a:xfrm>
          <a:prstGeom prst="roundRect">
            <a:avLst/>
          </a:prstGeom>
          <a:solidFill>
            <a:srgbClr val="FAFBFC"/>
          </a:solidFill>
          <a:ln w="25400">
            <a:solidFill>
              <a:srgbClr val="3B8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0" y="2029968"/>
            <a:ext cx="1508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3B844A"/>
                </a:solidFill>
                <a:latin typeface="Arial"/>
              </a:rPr>
              <a:t>select final
MoDA action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423160" y="2286000"/>
            <a:ext cx="411480" cy="0"/>
          </a:xfrm>
          <a:prstGeom prst="line">
            <a:avLst/>
          </a:prstGeom>
          <a:ln w="25400">
            <a:solidFill>
              <a:srgbClr val="6068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526280" y="2286000"/>
            <a:ext cx="411480" cy="0"/>
          </a:xfrm>
          <a:prstGeom prst="line">
            <a:avLst/>
          </a:prstGeom>
          <a:ln w="25400">
            <a:solidFill>
              <a:srgbClr val="6068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629400" y="2286000"/>
            <a:ext cx="594360" cy="0"/>
          </a:xfrm>
          <a:prstGeom prst="line">
            <a:avLst/>
          </a:prstGeom>
          <a:ln w="25400">
            <a:solidFill>
              <a:srgbClr val="6068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915400" y="2286000"/>
            <a:ext cx="594360" cy="0"/>
          </a:xfrm>
          <a:prstGeom prst="line">
            <a:avLst/>
          </a:prstGeom>
          <a:ln w="25400">
            <a:solidFill>
              <a:srgbClr val="6068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68680" y="3657600"/>
            <a:ext cx="4846320" cy="15087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9848" y="3822191"/>
            <a:ext cx="4443983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87878"/>
                </a:solidFill>
                <a:latin typeface="Arial"/>
              </a:rPr>
              <a:t>Training signal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224528"/>
            <a:ext cx="4434840" cy="795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4181C"/>
                </a:solidFill>
                <a:latin typeface="Arial"/>
              </a:defRPr>
            </a:pPr>
            <a:r>
              <a:t>Use only MoDA/stateroll candidate labels.</a:t>
            </a:r>
          </a:p>
          <a:p>
            <a:pPr>
              <a:spcAft>
                <a:spcPts val="600"/>
              </a:spcAft>
              <a:defRPr sz="1300">
                <a:solidFill>
                  <a:srgbClr val="14181C"/>
                </a:solidFill>
                <a:latin typeface="Arial"/>
              </a:defRPr>
            </a:pPr>
            <a:r>
              <a:t>For raw-rank0 failure episodes with a successful candidate, learn delta_a = action_success - action_rank0_failure.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3657600"/>
            <a:ext cx="4846320" cy="15087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10528" y="3822191"/>
            <a:ext cx="4443983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3B844A"/>
                </a:solidFill>
                <a:latin typeface="Arial"/>
              </a:rPr>
              <a:t>Why this is different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4224528"/>
            <a:ext cx="4434840" cy="795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4181C"/>
                </a:solidFill>
                <a:latin typeface="Arial"/>
              </a:defRPr>
            </a:pPr>
            <a:r>
              <a:t>Not bsl fallback.</a:t>
            </a:r>
          </a:p>
          <a:p>
            <a:pPr>
              <a:spcAft>
                <a:spcPts val="600"/>
              </a:spcAft>
              <a:defRPr sz="1300">
                <a:solidFill>
                  <a:srgbClr val="14181C"/>
                </a:solidFill>
                <a:latin typeface="Arial"/>
              </a:defRPr>
            </a:pPr>
            <a:r>
              <a:t>Not final candidate reranking only.</a:t>
            </a:r>
          </a:p>
          <a:p>
            <a:pPr>
              <a:spcAft>
                <a:spcPts val="600"/>
              </a:spcAft>
              <a:defRPr sz="1300">
                <a:solidFill>
                  <a:srgbClr val="14181C"/>
                </a:solidFill>
                <a:latin typeface="Arial"/>
              </a:defRPr>
            </a:pPr>
            <a:r>
              <a:t>It modifies the action proposal distribution before final evaluation.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C2D42"/>
                </a:solidFill>
                <a:latin typeface="Arial"/>
              </a:rPr>
              <a:t>Residual Proposal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06870"/>
                </a:solidFill>
                <a:latin typeface="Arial"/>
              </a:rPr>
              <a:t>Positive direction, but absolute success is unstable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2D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325880"/>
          <a:ext cx="1010412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926080"/>
                <a:gridCol w="1828800"/>
                <a:gridCol w="1371600"/>
                <a:gridCol w="1828800"/>
              </a:tblGrid>
              <a:tr h="57607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Eval set</a:t>
                      </a:r>
                    </a:p>
                  </a:txBody>
                  <a:tcPr>
                    <a:solidFill>
                      <a:srgbClr val="1C2D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1C2D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Top1</a:t>
                      </a:r>
                    </a:p>
                  </a:txBody>
                  <a:tcPr>
                    <a:solidFill>
                      <a:srgbClr val="1C2D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Near-miss</a:t>
                      </a:r>
                    </a:p>
                  </a:txBody>
                  <a:tcPr>
                    <a:solidFill>
                      <a:srgbClr val="1C2D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Paired net</a:t>
                      </a:r>
                    </a:p>
                  </a:txBody>
                  <a:tcPr>
                    <a:solidFill>
                      <a:srgbClr val="1C2D42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81C"/>
                          </a:solidFill>
                          <a:latin typeface="Arial"/>
                        </a:defRPr>
                      </a:pPr>
                      <a:r>
                        <a:t>medium20 original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81C"/>
                          </a:solidFill>
                          <a:latin typeface="Arial"/>
                        </a:defRPr>
                      </a:pPr>
                      <a:r>
                        <a:t>raw -&gt; residual_cal 0.25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81C"/>
                          </a:solidFill>
                          <a:latin typeface="Arial"/>
                        </a:defRPr>
                      </a:pPr>
                      <a:r>
                        <a:t>60.0 -&gt; 65.0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81C"/>
                          </a:solidFill>
                          <a:latin typeface="Arial"/>
                        </a:defRPr>
                      </a:pPr>
                      <a:r>
                        <a:t>6 -&gt;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81C"/>
                          </a:solidFill>
                          <a:latin typeface="Arial"/>
                        </a:defRPr>
                      </a:pPr>
                      <a:r>
                        <a:t>+5 top1 points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81C"/>
                          </a:solidFill>
                          <a:latin typeface="Arial"/>
                        </a:defRPr>
                      </a:pPr>
                      <a:r>
                        <a:t>medium20 rerun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81C"/>
                          </a:solidFill>
                          <a:latin typeface="Arial"/>
                        </a:defRPr>
                      </a:pPr>
                      <a:r>
                        <a:t>raw -&gt; residual_cal 0.25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81C"/>
                          </a:solidFill>
                          <a:latin typeface="Arial"/>
                        </a:defRPr>
                      </a:pPr>
                      <a:r>
                        <a:t>60.0 -&gt; 62.5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81C"/>
                          </a:solidFill>
                          <a:latin typeface="Arial"/>
                        </a:defRPr>
                      </a:pPr>
                      <a:r>
                        <a:t>6 -&gt; 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81C"/>
                          </a:solidFill>
                          <a:latin typeface="Arial"/>
                        </a:defRPr>
                      </a:pPr>
                      <a:r>
                        <a:t>+1 case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81C"/>
                          </a:solidFill>
                          <a:latin typeface="Arial"/>
                        </a:defRPr>
                      </a:pPr>
                      <a:r>
                        <a:t>confirm50 all50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81C"/>
                          </a:solidFill>
                          <a:latin typeface="Arial"/>
                        </a:defRPr>
                      </a:pPr>
                      <a:r>
                        <a:t>raw -&gt; residual_cal 0.25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81C"/>
                          </a:solidFill>
                          <a:latin typeface="Arial"/>
                        </a:defRPr>
                      </a:pPr>
                      <a:r>
                        <a:t>46.0 -&gt; 49.0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81C"/>
                          </a:solidFill>
                          <a:latin typeface="Arial"/>
                        </a:defRPr>
                      </a:pPr>
                      <a:r>
                        <a:t>14 -&gt; 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81C"/>
                          </a:solidFill>
                          <a:latin typeface="Arial"/>
                        </a:defRPr>
                      </a:pPr>
                      <a:r>
                        <a:t>+3 cases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81C"/>
                          </a:solidFill>
                          <a:latin typeface="Arial"/>
                        </a:defRPr>
                      </a:pPr>
                      <a:r>
                        <a:t>confirm50 all50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81C"/>
                          </a:solidFill>
                          <a:latin typeface="Arial"/>
                        </a:defRPr>
                      </a:pPr>
                      <a:r>
                        <a:t>raw -&gt; residual_cal 0.4/0.5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81C"/>
                          </a:solidFill>
                          <a:latin typeface="Arial"/>
                        </a:defRPr>
                      </a:pPr>
                      <a:r>
                        <a:t>46.0 -&gt; 50.0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81C"/>
                          </a:solidFill>
                          <a:latin typeface="Arial"/>
                        </a:defRPr>
                      </a:pPr>
                      <a:r>
                        <a:t>14 -&gt; 10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81C"/>
                          </a:solidFill>
                          <a:latin typeface="Arial"/>
                        </a:defRPr>
                      </a:pPr>
                      <a:r>
                        <a:t>+4 cases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914400" y="4663440"/>
            <a:ext cx="10241280" cy="10058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4828031"/>
            <a:ext cx="983894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87878"/>
                </a:solidFill>
                <a:latin typeface="Arial"/>
              </a:rPr>
              <a:t>Reading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5230368"/>
            <a:ext cx="9829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4181C"/>
                </a:solidFill>
                <a:latin typeface="Arial"/>
              </a:defRPr>
            </a:pPr>
            <a:r>
              <a:t>Residual proposal gives consistent paired improvement and reduces near-miss failures, but the medium20 65.0 is not robust enough to claim as final standalone performance.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C2D42"/>
                </a:solidFill>
                <a:latin typeface="Arial"/>
              </a:rPr>
              <a:t>Paired-Index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06870"/>
                </a:solidFill>
                <a:latin typeface="Arial"/>
              </a:rPr>
              <a:t>Why confirm50 looked worse than medium20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2D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325880"/>
          <a:ext cx="107899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1325880"/>
                <a:gridCol w="1645920"/>
                <a:gridCol w="1828800"/>
                <a:gridCol w="3931920"/>
              </a:tblGrid>
              <a:tr h="585216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Subset</a:t>
                      </a:r>
                    </a:p>
                  </a:txBody>
                  <a:tcPr>
                    <a:solidFill>
                      <a:srgbClr val="1C2D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Raw top1</a:t>
                      </a:r>
                    </a:p>
                  </a:txBody>
                  <a:tcPr>
                    <a:solidFill>
                      <a:srgbClr val="1C2D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Residual top1</a:t>
                      </a:r>
                    </a:p>
                  </a:txBody>
                  <a:tcPr>
                    <a:solidFill>
                      <a:srgbClr val="1C2D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Near-miss change</a:t>
                      </a:r>
                    </a:p>
                  </a:txBody>
                  <a:tcPr>
                    <a:solidFill>
                      <a:srgbClr val="1C2D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Interpretation</a:t>
                      </a:r>
                    </a:p>
                  </a:txBody>
                  <a:tcPr>
                    <a:solidFill>
                      <a:srgbClr val="1C2D42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81C"/>
                          </a:solidFill>
                          <a:latin typeface="Arial"/>
                        </a:defRPr>
                      </a:pPr>
                      <a:r>
                        <a:t>medium20 rerun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81C"/>
                          </a:solidFill>
                          <a:latin typeface="Arial"/>
                        </a:defRPr>
                      </a:pPr>
                      <a:r>
                        <a:t>60.0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81C"/>
                          </a:solidFill>
                          <a:latin typeface="Arial"/>
                        </a:defRPr>
                      </a:pPr>
                      <a:r>
                        <a:t>62.5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81C"/>
                          </a:solidFill>
                          <a:latin typeface="Arial"/>
                        </a:defRPr>
                      </a:pPr>
                      <a:r>
                        <a:t>6 -&gt; 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81C"/>
                          </a:solidFill>
                          <a:latin typeface="Arial"/>
                        </a:defRPr>
                      </a:pPr>
                      <a:r>
                        <a:t>positive but smaller than original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81C"/>
                          </a:solidFill>
                          <a:latin typeface="Arial"/>
                        </a:defRPr>
                      </a:pPr>
                      <a:r>
                        <a:t>confirm50 first20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81C"/>
                          </a:solidFill>
                          <a:latin typeface="Arial"/>
                        </a:defRPr>
                      </a:pPr>
                      <a:r>
                        <a:t>40.0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81C"/>
                          </a:solidFill>
                          <a:latin typeface="Arial"/>
                        </a:defRPr>
                      </a:pPr>
                      <a:r>
                        <a:t>47.5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81C"/>
                          </a:solidFill>
                          <a:latin typeface="Arial"/>
                        </a:defRPr>
                      </a:pPr>
                      <a:r>
                        <a:t>10 -&gt; 7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81C"/>
                          </a:solidFill>
                          <a:latin typeface="Arial"/>
                        </a:defRPr>
                      </a:pPr>
                      <a:r>
                        <a:t>sample is much harder than medium20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81C"/>
                          </a:solidFill>
                          <a:latin typeface="Arial"/>
                        </a:defRPr>
                      </a:pPr>
                      <a:r>
                        <a:t>confirm50 added30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81C"/>
                          </a:solidFill>
                          <a:latin typeface="Arial"/>
                        </a:defRPr>
                      </a:pPr>
                      <a:r>
                        <a:t>50.0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81C"/>
                          </a:solidFill>
                          <a:latin typeface="Arial"/>
                        </a:defRPr>
                      </a:pPr>
                      <a:r>
                        <a:t>50.0-51.7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81C"/>
                          </a:solidFill>
                          <a:latin typeface="Arial"/>
                        </a:defRPr>
                      </a:pPr>
                      <a:r>
                        <a:t>4 -&gt; 3/4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81C"/>
                          </a:solidFill>
                          <a:latin typeface="Arial"/>
                        </a:defRPr>
                      </a:pPr>
                      <a:r>
                        <a:t>mostly neutral, one extra fix at larger scale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81C"/>
                          </a:solidFill>
                          <a:latin typeface="Arial"/>
                        </a:defRPr>
                      </a:pPr>
                      <a:r>
                        <a:t>confirm50 all50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81C"/>
                          </a:solidFill>
                          <a:latin typeface="Arial"/>
                        </a:defRPr>
                      </a:pPr>
                      <a:r>
                        <a:t>46.0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81C"/>
                          </a:solidFill>
                          <a:latin typeface="Arial"/>
                        </a:defRPr>
                      </a:pPr>
                      <a:r>
                        <a:t>50.0 best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81C"/>
                          </a:solidFill>
                          <a:latin typeface="Arial"/>
                        </a:defRPr>
                      </a:pPr>
                      <a:r>
                        <a:t>14 -&gt; 10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181C"/>
                          </a:solidFill>
                          <a:latin typeface="Arial"/>
                        </a:defRPr>
                      </a:pPr>
                      <a:r>
                        <a:t>consistent paired gain, low absolute top1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914400" y="4617720"/>
            <a:ext cx="10241280" cy="10058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4782312"/>
            <a:ext cx="983894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D6732C"/>
                </a:solidFill>
                <a:latin typeface="Arial"/>
              </a:rPr>
              <a:t>Key point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5184648"/>
            <a:ext cx="9829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4181C"/>
                </a:solidFill>
                <a:latin typeface="Arial"/>
              </a:defRPr>
            </a:pPr>
            <a:r>
              <a:t>The issue is not simply that added30 destroyed the result. The confirm50 first20 is a different, harder sampled set than medium20; evaluation must use paired indices and paired gains.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C2D42"/>
                </a:solidFill>
                <a:latin typeface="Arial"/>
              </a:rPr>
              <a:t>Final Positioning for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06870"/>
                </a:solidFill>
                <a:latin typeface="Arial"/>
              </a:rPr>
              <a:t>What can be claimed tomorrow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2D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212080" cy="18288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581912"/>
            <a:ext cx="480974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3B844A"/>
                </a:solidFill>
                <a:latin typeface="Arial"/>
              </a:rPr>
              <a:t>What we can claim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84248"/>
            <a:ext cx="480060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4181C"/>
                </a:solidFill>
                <a:latin typeface="Arial"/>
              </a:defRPr>
            </a:pPr>
            <a:r>
              <a:t>MoDA provides complementary candidate coverage, but raw MoDA cost is poorly aligned with planning success.</a:t>
            </a:r>
          </a:p>
          <a:p>
            <a:pPr>
              <a:spcAft>
                <a:spcPts val="600"/>
              </a:spcAft>
              <a:defRPr sz="1300">
                <a:solidFill>
                  <a:srgbClr val="14181C"/>
                </a:solidFill>
                <a:latin typeface="Arial"/>
              </a:defRPr>
            </a:pPr>
            <a:r>
              <a:t>Global AUC improvements are insufficient; intra-episode discrimination is the real bottleneck.</a:t>
            </a:r>
          </a:p>
          <a:p>
            <a:pPr>
              <a:spcAft>
                <a:spcPts val="600"/>
              </a:spcAft>
              <a:defRPr sz="1300">
                <a:solidFill>
                  <a:srgbClr val="14181C"/>
                </a:solidFill>
                <a:latin typeface="Arial"/>
              </a:defRPr>
            </a:pPr>
            <a:r>
              <a:t>Success-conditioned residual proposal is the first MoDA-only candidate-generation correction with consistent paired gains.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17320"/>
            <a:ext cx="5212080" cy="18288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0528" y="1581912"/>
            <a:ext cx="480974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03434"/>
                </a:solidFill>
                <a:latin typeface="Arial"/>
              </a:rPr>
              <a:t>What we should not claim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1984248"/>
            <a:ext cx="480060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4181C"/>
                </a:solidFill>
                <a:latin typeface="Arial"/>
              </a:defRPr>
            </a:pPr>
            <a:r>
              <a:t>Do not claim MoDA-only is already a stable 65+ standalone planner.</a:t>
            </a:r>
          </a:p>
          <a:p>
            <a:pPr>
              <a:spcAft>
                <a:spcPts val="600"/>
              </a:spcAft>
              <a:defRPr sz="1300">
                <a:solidFill>
                  <a:srgbClr val="14181C"/>
                </a:solidFill>
                <a:latin typeface="Arial"/>
              </a:defRPr>
            </a:pPr>
            <a:r>
              <a:t>Do not present bsl-integrated gains as MoDA-only evidence.</a:t>
            </a:r>
          </a:p>
          <a:p>
            <a:pPr>
              <a:spcAft>
                <a:spcPts val="600"/>
              </a:spcAft>
              <a:defRPr sz="1300">
                <a:solidFill>
                  <a:srgbClr val="14181C"/>
                </a:solidFill>
                <a:latin typeface="Arial"/>
              </a:defRPr>
            </a:pPr>
            <a:r>
              <a:t>Do not use fixed/harmed as the main MoDA-only metric; use paired raw-vs-residual only.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77639"/>
            <a:ext cx="10789920" cy="12344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4142231"/>
            <a:ext cx="103875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87878"/>
                </a:solidFill>
                <a:latin typeface="Arial"/>
              </a:rPr>
              <a:t>One-sentence summary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544568"/>
            <a:ext cx="1037844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4181C"/>
                </a:solidFill>
                <a:latin typeface="Arial"/>
              </a:defRPr>
            </a:pPr>
            <a:r>
              <a:t>MoDA-only planning is limited by proposal/cost misalignment; post-hoc reranking fails, but success-conditioned residual proposal reduces near-miss failures and gives consistent paired improvement, making candidate-generation correction the most promising technical path.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C2D42"/>
                </a:solidFill>
                <a:latin typeface="Arial"/>
              </a:rPr>
              <a:t>Next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06870"/>
                </a:solidFill>
                <a:latin typeface="Arial"/>
              </a:rPr>
              <a:t>Turn residual signal into a stable MoDA-only module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2D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3383280" cy="34747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1581912"/>
            <a:ext cx="298094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87878"/>
                </a:solidFill>
                <a:latin typeface="Arial"/>
              </a:rPr>
              <a:t>1. Residual gate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984248"/>
            <a:ext cx="2971800" cy="2761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4181C"/>
                </a:solidFill>
                <a:latin typeface="Arial"/>
              </a:defRPr>
            </a:pPr>
            <a:r>
              <a:t>Predict when residual correction should be applied.</a:t>
            </a:r>
          </a:p>
          <a:p>
            <a:pPr>
              <a:spcAft>
                <a:spcPts val="600"/>
              </a:spcAft>
              <a:defRPr sz="1300">
                <a:solidFill>
                  <a:srgbClr val="14181C"/>
                </a:solidFill>
                <a:latin typeface="Arial"/>
              </a:defRPr>
            </a:pPr>
            <a:r>
              <a:t>MoDA-only gate: no bsl success/failure labels.</a:t>
            </a:r>
          </a:p>
          <a:p>
            <a:pPr>
              <a:spcAft>
                <a:spcPts val="600"/>
              </a:spcAft>
              <a:defRPr sz="1300">
                <a:solidFill>
                  <a:srgbClr val="14181C"/>
                </a:solidFill>
                <a:latin typeface="Arial"/>
              </a:defRPr>
            </a:pPr>
            <a:r>
              <a:t>Target: keep fixes, avoid unnecessary shifts.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417320"/>
            <a:ext cx="3383280" cy="34747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36007" y="1581912"/>
            <a:ext cx="298094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D6732C"/>
                </a:solidFill>
                <a:latin typeface="Arial"/>
              </a:rPr>
              <a:t>2. Scale selection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1984248"/>
            <a:ext cx="2971800" cy="2761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4181C"/>
                </a:solidFill>
                <a:latin typeface="Arial"/>
              </a:defRPr>
            </a:pPr>
            <a:r>
              <a:t>0.25 is conservative; 0.4/0.5 worked better on confirm50.</a:t>
            </a:r>
          </a:p>
          <a:p>
            <a:pPr>
              <a:spcAft>
                <a:spcPts val="600"/>
              </a:spcAft>
              <a:defRPr sz="1300">
                <a:solidFill>
                  <a:srgbClr val="14181C"/>
                </a:solidFill>
                <a:latin typeface="Arial"/>
              </a:defRPr>
            </a:pPr>
            <a:r>
              <a:t>Learn or tune scale from residual confidence / cost margin.</a:t>
            </a:r>
          </a:p>
          <a:p>
            <a:pPr>
              <a:spcAft>
                <a:spcPts val="600"/>
              </a:spcAft>
              <a:defRPr sz="1300">
                <a:solidFill>
                  <a:srgbClr val="14181C"/>
                </a:solidFill>
                <a:latin typeface="Arial"/>
              </a:defRPr>
            </a:pPr>
            <a:r>
              <a:t>Report paired gain under fixed indices.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417320"/>
            <a:ext cx="3383280" cy="34747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93608" y="1581912"/>
            <a:ext cx="298094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C2D42"/>
                </a:solidFill>
                <a:latin typeface="Arial"/>
              </a:rPr>
              <a:t>3. Training-level fix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1984248"/>
            <a:ext cx="2971800" cy="2761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4181C"/>
                </a:solidFill>
                <a:latin typeface="Arial"/>
              </a:defRPr>
            </a:pPr>
            <a:r>
              <a:t>If inference-time correction saturates, add planning-aware contrastive/ranking objective to representation training.</a:t>
            </a:r>
          </a:p>
          <a:p>
            <a:pPr>
              <a:spcAft>
                <a:spcPts val="600"/>
              </a:spcAft>
              <a:defRPr sz="1300">
                <a:solidFill>
                  <a:srgbClr val="14181C"/>
                </a:solidFill>
                <a:latin typeface="Arial"/>
              </a:defRPr>
            </a:pPr>
            <a:r>
              <a:t>Separate success vs near-miss failure inside same episode.</a:t>
            </a:r>
          </a:p>
          <a:p>
            <a:pPr>
              <a:spcAft>
                <a:spcPts val="600"/>
              </a:spcAft>
              <a:defRPr sz="1300">
                <a:solidFill>
                  <a:srgbClr val="14181C"/>
                </a:solidFill>
                <a:latin typeface="Arial"/>
              </a:defRPr>
            </a:pPr>
            <a:r>
              <a:t>This is future work, not current result.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C2D42"/>
                </a:solidFill>
                <a:latin typeface="Arial"/>
              </a:rPr>
              <a:t>Report Script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06870"/>
                </a:solidFill>
                <a:latin typeface="Arial"/>
              </a:rPr>
              <a:t>A concise way to explain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D2D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10515600" cy="38404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581912"/>
            <a:ext cx="101132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87878"/>
                </a:solidFill>
                <a:latin typeface="Arial"/>
              </a:rPr>
              <a:t>Suggested wording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84248"/>
            <a:ext cx="10104120" cy="3127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4181C"/>
                </a:solidFill>
                <a:latin typeface="Arial"/>
              </a:defRPr>
            </a:pPr>
            <a:r>
              <a:t>我们一开始看到 bsl-integrated 有 81 到 83 左右的提升，但这个结果依赖 baseline 保底，所以不能作为 MoDA-only 主线。</a:t>
            </a:r>
          </a:p>
          <a:p>
            <a:pPr>
              <a:spcAft>
                <a:spcPts val="600"/>
              </a:spcAft>
              <a:defRPr sz="1300">
                <a:solidFill>
                  <a:srgbClr val="14181C"/>
                </a:solidFill>
                <a:latin typeface="Arial"/>
              </a:defRPr>
            </a:pPr>
            <a:r>
              <a:t>随后我们检查 MoDA candidate pool，发现 oracle 不低但 raw cost 排序接近随机；BCE AUC 虽然升高，但 intra-episode AUC 很低，说明后处理 reranker 学到的是 episode difficulty，不是真正的 candidate selection。</a:t>
            </a:r>
          </a:p>
          <a:p>
            <a:pPr>
              <a:spcAft>
                <a:spcPts val="600"/>
              </a:spcAft>
              <a:defRPr sz="1300">
                <a:solidFill>
                  <a:srgbClr val="14181C"/>
                </a:solidFill>
                <a:latin typeface="Arial"/>
              </a:defRPr>
            </a:pPr>
            <a:r>
              <a:t>因此我们把方向从 final rerank 转到 candidate generation correction：学习 success-conditioned action residual，把 raw MoDA proposal 往成功候选方向推。</a:t>
            </a:r>
          </a:p>
          <a:p>
            <a:pPr>
              <a:spcAft>
                <a:spcPts val="600"/>
              </a:spcAft>
              <a:defRPr sz="1300">
                <a:solidFill>
                  <a:srgbClr val="14181C"/>
                </a:solidFill>
                <a:latin typeface="Arial"/>
              </a:defRPr>
            </a:pPr>
            <a:r>
              <a:t>目前 residual proposal 在 paired evaluation 上稳定减少 near-miss，并带来 +3 到 +5 的相对 top1 改善；但绝对 65 还不稳定，下一步要做 MoDA-only residual gate 和 scale selection。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